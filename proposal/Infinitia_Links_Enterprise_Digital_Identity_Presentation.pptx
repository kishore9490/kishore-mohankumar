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f1ee0e8-df49-439f-df36-4921b328dde9}">
          <p14:sldIdLst>
            <p14:sldId id="256"/>
            <p14:sldId id="257"/>
            <p14:sldId id="258"/>
            <p14:sldId id="259"/>
            <p14:sldId id="260"/>
          </p14:sldIdLst>
        </p14:section>
        <p14:section name="Product experience" id="{0582e4bd-50d3-5d54-5594-43dad37c15e9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Use cases" id="{be71941a-0f62-d104-69cd-508648e71b56}">
          <p14:sldIdLst>
            <p14:sldId id="269"/>
            <p14:sldId id="270"/>
            <p14:sldId id="271"/>
            <p14:sldId id="272"/>
          </p14:sldIdLst>
        </p14:section>
        <p14:section name="Platform &amp; governance" id="{b4e26d12-5d16-b47b-c910-5a67c0f45d57}">
          <p14:sldIdLst>
            <p14:sldId id="273"/>
            <p14:sldId id="274"/>
            <p14:sldId id="275"/>
            <p14:sldId id="276"/>
          </p14:sldIdLst>
        </p14:section>
        <p14:section name="Commercials &amp; value" id="{02b9bff7-e3fa-3705-e43c-792c4ef7c71e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Infinitia Links is a configurable platform: every employee gets a secure, mobile-accessible digital identity with a unique QR code; the organisation issues, verifies, updates, suspends and revokes those identities centrally. All people and organisations shown in this deck are fictional demonstrations.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the audience’s language: cost and delay of physical cards, the difficulty of checking whether a card is still valid, and the risk of cards staying in circulation after someone leaves. Avoid quoting numbers we cannot substantiate.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vision in one sentence. Three pillars: digital first, verifiable anywhere, centrally governed.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more than an ID card generator: it is the system of record for workforce identity credentials, with verification, lifecycle management and optional directory and service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lifecycle: issue, carry, verify, manage. Emphasise that status changes take effect at the next scan because verification is server-side.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card: organisation branding, photograph, name, employee ID, designation, department, branch, category, validity, QR and live status. Emergency contact and joining date appear only where the organisation authorises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Templates are starting points. Each organisation configures logo, colours, fields and layout. Sample identities are fictional and labelled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safeguard: QR verification confirms credential status with the issuing organisation; it does not independently prove the physical identity of the person presenting the card. Verifiers should still compare the photograph.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outcomes on the same page design: verified-active, and not-active (revoked). Non-active results withhold personal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Modules: overview, employee management, bulk management, verification analytics, organisation management, security and audit. Figures on screen are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Excel/CSV import with column mapping and validation. Invalid rows are held back with a downloadable error report while valid rows proceed. Bulk activation, renewal and suspension follow the same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module. The organisation decides which fields are visible and to whom (public, signed-in staff only, or disabled).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links connect to the organisation’s existing systems. Infinitia Links is not an HRMS, payroll or attendance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 segment. Same platform; each institution configures its own branding, roles and templates.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Healthcare segment. Emphasise visiting consultants and time-bound validity.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Corporate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sensitive use case. The lending organisation provides and approves the agent’s authorisation details; Infinitia Links displays them and their status. Borrower information is never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optional capabilities or future integrations, not automatically available. Hardware, apps, third-party APIs and subscriptions may be separately required. A normal QR code does not provide NFC, biometric attendance, physical access or continuous GPS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deployment must be configured according to applicable data-protection law and the customer’s own policies. We make no claim of ISO, SOC or other certifications in this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Timelines are indicative and depend on data readiness, approvals, integration requirements and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Indicative rollout plans by size. Actual timelines depend on data readiness, approvals, integration requirements and deployment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prices are placeholders to be quoted after discovery. No figure in this deck is an approved quotation.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are qualitative. We do not quote savings figures without a customer-specific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argument with differentiators that are true of the proposition: purpose-built, configurable, privacy-first, honest about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three next steps and invite a discovery call. Contact details are placeholders to be filled in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23160"/>
            <a:ext cx="585216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106070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4" name="Image 0" descr="/home/user/Kishore-Mohankumar/proposal/visual-assets/brand/infinitia-links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188720" cy="1651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20240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Enterprise Digital Identity Platform  ·  An enterprise digital identity solution by Infinitia Hub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4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3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slideLayout" Target="../slideLayouts/slideLayout5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slideLayout" Target="../slideLayouts/slideLayout5.xml"/><Relationship Id="rId1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infinitialinks.com/" TargetMode="External"/><Relationship Id="rId1" Type="http://schemas.openxmlformats.org/officeDocument/2006/relationships/image" Target="../media/image-25-1.png"/><Relationship Id="rId3" Type="http://schemas.openxmlformats.org/officeDocument/2006/relationships/image" Target="../media/image-25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finitia Links logo" descr="/home/user/Kishore-Mohankumar/proposal/visual-assets/brand/infinitia-links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56204"/>
            <a:ext cx="1920240" cy="153935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23160"/>
            <a:ext cx="5852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Enterprise Digital Identity &amp; Verification Platform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9776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>
                    <a:alpha val="80000"/>
                  </a:schemeClr>
                </a:solidFill>
              </a:rPr>
              <a:t>A centralised digital identity, verification and workforce information platform for universities, healthcare, corporates, financial services and field workforces.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One link. Infinite possibilities.</a:t>
            </a:r>
            <a:endParaRPr lang="en-US" sz="1600" dirty="0"/>
          </a:p>
        </p:txBody>
      </p:sp>
      <p:pic>
        <p:nvPicPr>
          <p:cNvPr id="6" name="Infinitia Hub logo" descr="/home/user/Kishore-Mohankumar/proposal/visual-assets/brand/infinitia-hub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59144"/>
            <a:ext cx="868680" cy="6146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5760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>
                    <a:alpha val="75000"/>
                  </a:schemeClr>
                </a:solidFill>
              </a:rPr>
              <a:t>An enterprise digital identity solution by Infinitia Hub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>
                    <a:alpha val="75000"/>
                  </a:schemeClr>
                </a:solidFill>
              </a:rPr>
              <a:t>infinitialinks.com</a:t>
            </a:r>
            <a:endParaRPr lang="en-US" sz="1150" dirty="0"/>
          </a:p>
        </p:txBody>
      </p:sp>
      <p:pic>
        <p:nvPicPr>
          <p:cNvPr id="8" name="Digital ID mockups on three phones" descr="/home/user/Kishore-Mohankumar/proposal/source/build/embed/hero-pho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1681"/>
            <a:ext cx="5577840" cy="40346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CHALLENGE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Physical ID cards were never designed for today’s workforce</a:t>
            </a:r>
            <a:endParaRPr lang="en-US" sz="3000" dirty="0"/>
          </a:p>
        </p:txBody>
      </p:sp>
      <p:sp>
        <p:nvSpPr>
          <p:cNvPr id="5" name="panel"/>
          <p:cNvSpPr/>
          <p:nvPr/>
        </p:nvSpPr>
        <p:spPr>
          <a:xfrm>
            <a:off x="548640" y="1783080"/>
            <a:ext cx="3520440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6" name="icon tile"/>
          <p:cNvSpPr/>
          <p:nvPr/>
        </p:nvSpPr>
        <p:spPr>
          <a:xfrm>
            <a:off x="822960" y="205740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idcard icon" descr="/home/user/Kishore-Mohankumar/proposal/source/build/icons/idcard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7810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Slow, costly to reissue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044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Printing, reprinting and replacing lost or outdated cards takes time and budget.</a:t>
            </a:r>
            <a:endParaRPr lang="en-US" sz="1250" dirty="0"/>
          </a:p>
        </p:txBody>
      </p:sp>
      <p:sp>
        <p:nvSpPr>
          <p:cNvPr id="10" name="panel"/>
          <p:cNvSpPr/>
          <p:nvPr/>
        </p:nvSpPr>
        <p:spPr>
          <a:xfrm>
            <a:off x="4297680" y="1783080"/>
            <a:ext cx="3520440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11" name="icon tile"/>
          <p:cNvSpPr/>
          <p:nvPr/>
        </p:nvSpPr>
        <p:spPr>
          <a:xfrm>
            <a:off x="4572000" y="205740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2" name="alert icon" descr="/home/user/Kishore-Mohankumar/proposal/source/build/icons/alert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1781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Hard to verify on the spot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3044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printed card cannot tell a verifier whether it is still valid today.</a:t>
            </a:r>
            <a:endParaRPr lang="en-US" sz="1250" dirty="0"/>
          </a:p>
        </p:txBody>
      </p:sp>
      <p:sp>
        <p:nvSpPr>
          <p:cNvPr id="15" name="panel"/>
          <p:cNvSpPr/>
          <p:nvPr/>
        </p:nvSpPr>
        <p:spPr>
          <a:xfrm>
            <a:off x="8046720" y="1783080"/>
            <a:ext cx="3520440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16" name="icon tile"/>
          <p:cNvSpPr/>
          <p:nvPr/>
        </p:nvSpPr>
        <p:spPr>
          <a:xfrm>
            <a:off x="8321040" y="205740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7" name="ban icon" descr="/home/user/Kishore-Mohankumar/proposal/source/build/icons/ban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217810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2104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Leavers’ cards stay in circulation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3044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Cards of suspended or exited staff can still look authentic.</a:t>
            </a:r>
            <a:endParaRPr lang="en-US" sz="1250" dirty="0"/>
          </a:p>
        </p:txBody>
      </p:sp>
      <p:sp>
        <p:nvSpPr>
          <p:cNvPr id="20" name="panel"/>
          <p:cNvSpPr/>
          <p:nvPr/>
        </p:nvSpPr>
        <p:spPr>
          <a:xfrm>
            <a:off x="548640" y="3886200"/>
            <a:ext cx="3520440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21" name="icon tile"/>
          <p:cNvSpPr/>
          <p:nvPr/>
        </p:nvSpPr>
        <p:spPr>
          <a:xfrm>
            <a:off x="822960" y="416052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2" name="users icon" descr="/home/user/Kishore-Mohankumar/proposal/source/build/icons/users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28122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296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Fragmented records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5148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Identity details live in spreadsheets, HR systems and ID vendors — rarely in sync.</a:t>
            </a:r>
            <a:endParaRPr lang="en-US" sz="1250" dirty="0"/>
          </a:p>
        </p:txBody>
      </p:sp>
      <p:sp>
        <p:nvSpPr>
          <p:cNvPr id="25" name="panel"/>
          <p:cNvSpPr/>
          <p:nvPr/>
        </p:nvSpPr>
        <p:spPr>
          <a:xfrm>
            <a:off x="4297680" y="3886200"/>
            <a:ext cx="3520440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26" name="icon tile"/>
          <p:cNvSpPr/>
          <p:nvPr/>
        </p:nvSpPr>
        <p:spPr>
          <a:xfrm>
            <a:off x="4572000" y="416052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7" name="pin icon" descr="/home/user/Kishore-Mohankumar/proposal/source/build/icons/pin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4281221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7200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Field staff, unverifiable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5148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Customers have little way to confirm that a field visitor is genuinely authorised.</a:t>
            </a:r>
            <a:endParaRPr lang="en-US" sz="1250" dirty="0"/>
          </a:p>
        </p:txBody>
      </p:sp>
      <p:sp>
        <p:nvSpPr>
          <p:cNvPr id="30" name="panel"/>
          <p:cNvSpPr/>
          <p:nvPr/>
        </p:nvSpPr>
        <p:spPr>
          <a:xfrm>
            <a:off x="8046720" y="3886200"/>
            <a:ext cx="3520440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31" name="icon tile"/>
          <p:cNvSpPr/>
          <p:nvPr/>
        </p:nvSpPr>
        <p:spPr>
          <a:xfrm>
            <a:off x="8321040" y="416052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2" name="building icon" descr="/home/user/Kishore-Mohankumar/proposal/source/build/icons/building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1" y="4281221"/>
            <a:ext cx="261518" cy="26151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Inconsistent branding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8321040" y="5148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Multiple campuses or branches issue different-looking cards over time.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OUR VISION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058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Every employee carries a verifiable identity. Every organisation controls it centrally.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3429000"/>
            <a:ext cx="3520440" cy="2377440"/>
          </a:xfrm>
          <a:prstGeom prst="roundRect">
            <a:avLst>
              <a:gd name="adj" fmla="val 692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5" name="icon tile"/>
          <p:cNvSpPr/>
          <p:nvPr/>
        </p:nvSpPr>
        <p:spPr>
          <a:xfrm>
            <a:off x="841248" y="3721608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6" name="idcard icon" descr="/home/user/Kishore-Mohankumar/proposal/source/build/icons/idc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38532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Digital first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>
                    <a:alpha val="78000"/>
                  </a:schemeClr>
                </a:solidFill>
              </a:rPr>
              <a:t>A secure, branded identity on every phone — reducing dependence on physical cards.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97680" y="3429000"/>
            <a:ext cx="3520440" cy="2377440"/>
          </a:xfrm>
          <a:prstGeom prst="roundRect">
            <a:avLst>
              <a:gd name="adj" fmla="val 692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0" name="icon tile"/>
          <p:cNvSpPr/>
          <p:nvPr/>
        </p:nvSpPr>
        <p:spPr>
          <a:xfrm>
            <a:off x="4590288" y="3721608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1" name="shield icon" descr="/home/user/Kishore-Mohankumar/proposal/source/build/icons/shiel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962" y="385328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0288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Verifiable anywhere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90288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>
                    <a:alpha val="78000"/>
                  </a:schemeClr>
                </a:solidFill>
              </a:rPr>
              <a:t>A unique QR that checks live credential status with the issuing organisation.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3429000"/>
            <a:ext cx="3520440" cy="2377440"/>
          </a:xfrm>
          <a:prstGeom prst="roundRect">
            <a:avLst>
              <a:gd name="adj" fmla="val 692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5" name="icon tile"/>
          <p:cNvSpPr/>
          <p:nvPr/>
        </p:nvSpPr>
        <p:spPr>
          <a:xfrm>
            <a:off x="8339328" y="3721608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6" name="grid icon" descr="/home/user/Kishore-Mohankumar/proposal/source/build/icons/gri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002" y="385328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9328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Centrally governed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39328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>
                    <a:alpha val="78000"/>
                  </a:schemeClr>
                </a:solidFill>
              </a:rPr>
              <a:t>Issue, renew, suspend and revoke from one console, with a full audit trail.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INTRODUCING INFINITIA LINKS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More than an ID card — a complete workforce identity platform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Organisations issue each employee a secure, mobile-accessible digital identity with a unique QR code — then manage, verify, update, suspend and deactivate it from one administrative dashboard.</a:t>
            </a:r>
            <a:endParaRPr lang="en-US" sz="1600" dirty="0"/>
          </a:p>
        </p:txBody>
      </p:sp>
      <p:sp>
        <p:nvSpPr>
          <p:cNvPr id="6" name="icon tile"/>
          <p:cNvSpPr/>
          <p:nvPr/>
        </p:nvSpPr>
        <p:spPr>
          <a:xfrm>
            <a:off x="548640" y="288036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idcard icon" descr="/home/user/Kishore-Mohankumar/proposal/source/build/icons/idcard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979" y="2985699"/>
            <a:ext cx="228234" cy="22823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52144" y="28620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Digital identity cards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52144" y="315468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Branded templates per organisation</a:t>
            </a:r>
            <a:endParaRPr lang="en-US" sz="1250" dirty="0"/>
          </a:p>
        </p:txBody>
      </p:sp>
      <p:sp>
        <p:nvSpPr>
          <p:cNvPr id="10" name="icon tile"/>
          <p:cNvSpPr/>
          <p:nvPr/>
        </p:nvSpPr>
        <p:spPr>
          <a:xfrm>
            <a:off x="3474720" y="288036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shield icon" descr="/home/user/Kishore-Mohankumar/proposal/source/build/icons/shield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059" y="2985699"/>
            <a:ext cx="228234" cy="22823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78224" y="28620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QR verification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078224" y="315468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Live, server-side status checks</a:t>
            </a:r>
            <a:endParaRPr lang="en-US" sz="1250" dirty="0"/>
          </a:p>
        </p:txBody>
      </p:sp>
      <p:sp>
        <p:nvSpPr>
          <p:cNvPr id="14" name="icon tile"/>
          <p:cNvSpPr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grid icon" descr="/home/user/Kishore-Mohankumar/proposal/source/build/icons/grid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9" y="4037259"/>
            <a:ext cx="228234" cy="22823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52144" y="391363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 console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52144" y="4206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Full credential lifecycle &amp; audit</a:t>
            </a:r>
            <a:endParaRPr lang="en-US" sz="1250" dirty="0"/>
          </a:p>
        </p:txBody>
      </p:sp>
      <p:sp>
        <p:nvSpPr>
          <p:cNvPr id="18" name="icon tile"/>
          <p:cNvSpPr/>
          <p:nvPr/>
        </p:nvSpPr>
        <p:spPr>
          <a:xfrm>
            <a:off x="3474720" y="3931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9" name="list icon" descr="/home/user/Kishore-Mohankumar/proposal/source/build/icons/list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059" y="4037259"/>
            <a:ext cx="228234" cy="22823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078224" y="391363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Directory &amp; service links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4078224" y="4206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Optional, privacy-controlled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51663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Infinitia Hub  ›  Infinitia Links  ›  “Powered by Infinitia Links” on every identity page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5486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organisation’s brand leads. Infinitia Links appears as a discreet endorsement.</a:t>
            </a:r>
            <a:endParaRPr lang="en-US" sz="1200" dirty="0"/>
          </a:p>
        </p:txBody>
      </p:sp>
      <p:pic>
        <p:nvPicPr>
          <p:cNvPr id="24" name="Corporate digital ID on phone" descr="/home/user/Kishore-Mohankumar/proposal/source/build/embed/phone-corporate-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168" y="1417320"/>
            <a:ext cx="2325624" cy="4800600"/>
          </a:xfrm>
          <a:prstGeom prst="rect">
            <a:avLst/>
          </a:prstGeom>
        </p:spPr>
      </p:pic>
      <p:pic>
        <p:nvPicPr>
          <p:cNvPr id="25" name="Verification page on phone" descr="/home/user/Kishore-Mohankumar/proposal/source/build/embed/verification-page-acti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9928" y="1417320"/>
            <a:ext cx="2325624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HOW THE PLATFORM WORKS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steps, one continuously verifiable identity</a:t>
            </a:r>
            <a:endParaRPr lang="en-US" sz="3000" dirty="0"/>
          </a:p>
        </p:txBody>
      </p:sp>
      <p:sp>
        <p:nvSpPr>
          <p:cNvPr id="5" name="panel"/>
          <p:cNvSpPr/>
          <p:nvPr/>
        </p:nvSpPr>
        <p:spPr>
          <a:xfrm>
            <a:off x="548640" y="1783080"/>
            <a:ext cx="2606040" cy="292608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pic>
        <p:nvPicPr>
          <p:cNvPr id="8" name="Image 0" descr="/home/user/Kishore-Mohankumar/proposal/source/build/icons/upload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130552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Issue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9184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Admins add employees individually or by Excel/CSV import; identities are generated on the organisation’s template.</a:t>
            </a:r>
            <a:endParaRPr lang="en-US" sz="1300" dirty="0"/>
          </a:p>
        </p:txBody>
      </p:sp>
      <p:sp>
        <p:nvSpPr>
          <p:cNvPr id="11" name="panel"/>
          <p:cNvSpPr/>
          <p:nvPr/>
        </p:nvSpPr>
        <p:spPr>
          <a:xfrm>
            <a:off x="3355848" y="1783080"/>
            <a:ext cx="2606040" cy="292608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30168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63016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pic>
        <p:nvPicPr>
          <p:cNvPr id="14" name="Image 1" descr="/home/user/Kishore-Mohankumar/proposal/source/build/icons/idcard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13055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30168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Carry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3630168" y="329184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Each employee opens their digital ID on a phone via a secure link — no physical card required.</a:t>
            </a:r>
            <a:endParaRPr lang="en-US" sz="1300" dirty="0"/>
          </a:p>
        </p:txBody>
      </p:sp>
      <p:sp>
        <p:nvSpPr>
          <p:cNvPr id="17" name="panel"/>
          <p:cNvSpPr/>
          <p:nvPr/>
        </p:nvSpPr>
        <p:spPr>
          <a:xfrm>
            <a:off x="6163056" y="1783080"/>
            <a:ext cx="2606040" cy="292608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37376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43737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pic>
        <p:nvPicPr>
          <p:cNvPr id="20" name="Image 2" descr="/home/user/Kishore-Mohankumar/proposal/source/build/icons/scan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213055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37376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Verify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437376" y="329184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Anyone scans the QR code and sees the live credential status from the issuing organisation.</a:t>
            </a:r>
            <a:endParaRPr lang="en-US" sz="1300" dirty="0"/>
          </a:p>
        </p:txBody>
      </p:sp>
      <p:sp>
        <p:nvSpPr>
          <p:cNvPr id="23" name="panel"/>
          <p:cNvSpPr/>
          <p:nvPr/>
        </p:nvSpPr>
        <p:spPr>
          <a:xfrm>
            <a:off x="8970264" y="1783080"/>
            <a:ext cx="2606040" cy="292608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244584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24458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pic>
        <p:nvPicPr>
          <p:cNvPr id="26" name="Image 3" descr="/home/user/Kishore-Mohankumar/proposal/source/build/icons/refresh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4" y="213055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44584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Manage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9244584" y="329184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Renew, suspend, revoke or update centrally. Every change is logged and reflected on the next scan.</a:t>
            </a:r>
            <a:endParaRPr lang="en-US" sz="1300" dirty="0"/>
          </a:p>
        </p:txBody>
      </p:sp>
      <p:sp>
        <p:nvSpPr>
          <p:cNvPr id="29" name="panel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3913"/>
            </a:avLst>
          </a:prstGeom>
          <a:solidFill>
            <a:schemeClr val="bg2"/>
          </a:solidFill>
          <a:ln/>
        </p:spPr>
      </p:sp>
      <p:sp>
        <p:nvSpPr>
          <p:cNvPr id="30" name="icon tile"/>
          <p:cNvSpPr/>
          <p:nvPr/>
        </p:nvSpPr>
        <p:spPr>
          <a:xfrm>
            <a:off x="822960" y="525780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1" name="shield icon" descr="/home/user/Kishore-Mohankumar/proposal/source/build/icons/shiel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077" y="5371917"/>
            <a:ext cx="247254" cy="24725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508760" y="51937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Verification is server-side.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1508760" y="550468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suspended, expired or revoked credential stops showing as valid the moment its status changes — even if an old screenshot of the card is still circulating.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DIGITAL STAFF ID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premium identity experience on every phone</a:t>
            </a:r>
            <a:endParaRPr lang="en-US" sz="3000" dirty="0"/>
          </a:p>
        </p:txBody>
      </p:sp>
      <p:pic>
        <p:nvPicPr>
          <p:cNvPr id="5" name="University staff ID on phone" descr="/home/user/Kishore-Mohankumar/proposal/source/build/embed/phone-university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74" y="1417320"/>
            <a:ext cx="2347773" cy="4846320"/>
          </a:xfrm>
          <a:prstGeom prst="rect">
            <a:avLst/>
          </a:prstGeom>
        </p:spPr>
      </p:pic>
      <p:sp>
        <p:nvSpPr>
          <p:cNvPr id="6" name="icon tile"/>
          <p:cNvSpPr/>
          <p:nvPr/>
        </p:nvSpPr>
        <p:spPr>
          <a:xfrm>
            <a:off x="4343400" y="16916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palette icon" descr="/home/user/Kishore-Mohankumar/proposal/source/build/icons/palett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739" y="1796979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946904" y="16733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Organisation branding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4946904" y="19659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Logo, colours and template chosen by the organisation</a:t>
            </a:r>
            <a:endParaRPr lang="en-US" sz="1250" dirty="0"/>
          </a:p>
        </p:txBody>
      </p:sp>
      <p:sp>
        <p:nvSpPr>
          <p:cNvPr id="10" name="icon tile"/>
          <p:cNvSpPr/>
          <p:nvPr/>
        </p:nvSpPr>
        <p:spPr>
          <a:xfrm>
            <a:off x="8138160" y="16916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user icon" descr="/home/user/Kishore-Mohankumar/proposal/source/build/icons/user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499" y="1796979"/>
            <a:ext cx="228234" cy="22823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741664" y="16733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Employee details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8741664" y="19659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Photo, full name, unique employee ID, designation, department</a:t>
            </a:r>
            <a:endParaRPr lang="en-US" sz="1250" dirty="0"/>
          </a:p>
        </p:txBody>
      </p:sp>
      <p:sp>
        <p:nvSpPr>
          <p:cNvPr id="14" name="icon tile"/>
          <p:cNvSpPr/>
          <p:nvPr/>
        </p:nvSpPr>
        <p:spPr>
          <a:xfrm>
            <a:off x="4343400" y="30632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building icon" descr="/home/user/Kishore-Mohankumar/proposal/source/build/icons/building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739" y="3168579"/>
            <a:ext cx="228234" cy="22823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946904" y="30449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Placement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4946904" y="33375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Branch or location, employment category, joining date where appropriate</a:t>
            </a:r>
            <a:endParaRPr lang="en-US" sz="1250" dirty="0"/>
          </a:p>
        </p:txBody>
      </p:sp>
      <p:sp>
        <p:nvSpPr>
          <p:cNvPr id="18" name="icon tile"/>
          <p:cNvSpPr/>
          <p:nvPr/>
        </p:nvSpPr>
        <p:spPr>
          <a:xfrm>
            <a:off x="8138160" y="30632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9" name="clock icon" descr="/home/user/Kishore-Mohankumar/proposal/source/build/icons/clock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499" y="3168579"/>
            <a:ext cx="228234" cy="22823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741664" y="30449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Validity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8741664" y="33375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Expiry date and current credential status shown on the card</a:t>
            </a:r>
            <a:endParaRPr lang="en-US" sz="1250" dirty="0"/>
          </a:p>
        </p:txBody>
      </p:sp>
      <p:sp>
        <p:nvSpPr>
          <p:cNvPr id="22" name="icon tile"/>
          <p:cNvSpPr/>
          <p:nvPr/>
        </p:nvSpPr>
        <p:spPr>
          <a:xfrm>
            <a:off x="434340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3" name="qr icon" descr="/home/user/Kishore-Mohankumar/proposal/source/build/icons/qr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739" y="4540179"/>
            <a:ext cx="228234" cy="22823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946904" y="44165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Unique QR code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4946904" y="47091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Opens a secure verification link for that credential only</a:t>
            </a:r>
            <a:endParaRPr lang="en-US" sz="1250" dirty="0"/>
          </a:p>
        </p:txBody>
      </p:sp>
      <p:sp>
        <p:nvSpPr>
          <p:cNvPr id="26" name="icon tile"/>
          <p:cNvSpPr/>
          <p:nvPr/>
        </p:nvSpPr>
        <p:spPr>
          <a:xfrm>
            <a:off x="813816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7" name="phone icon" descr="/home/user/Kishore-Mohankumar/proposal/source/build/icons/phone-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3499" y="4540179"/>
            <a:ext cx="228234" cy="22823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741664" y="44165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Contacts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8741664" y="47091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Official contact; emergency contact only where authorised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4343400" y="5852160"/>
            <a:ext cx="4937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1"/>
          <p:cNvSpPr txBox="1"/>
          <p:nvPr/>
        </p:nvSpPr>
        <p:spPr>
          <a:xfrm>
            <a:off x="4343400" y="58521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ALL SAMPLE IDENTITIES IN THIS DECK ARE FICTIONAL · DEMO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ID CARD DESIGN GALLERY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templates, configurable to each organisation’s brand</a:t>
            </a:r>
            <a:endParaRPr lang="en-US" sz="3000" dirty="0"/>
          </a:p>
        </p:txBody>
      </p:sp>
      <p:pic>
        <p:nvPicPr>
          <p:cNvPr id="5" name="Premium Corporate Blue template" descr="/home/user/Kishore-Mohankumar/proposal/source/build/embed/card-corpo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673" y="1554480"/>
            <a:ext cx="1698718" cy="270662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434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Premium Corporate Blue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8920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Corporate employee</a:t>
            </a:r>
            <a:endParaRPr lang="en-US" sz="1100" dirty="0"/>
          </a:p>
        </p:txBody>
      </p:sp>
      <p:pic>
        <p:nvPicPr>
          <p:cNvPr id="8" name="Modern Minimal White template" descr="/home/user/Kishore-Mohankumar/proposal/source/build/embed/card-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193" y="1554480"/>
            <a:ext cx="1698718" cy="270662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423160" y="4434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Modern Minimal White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2423160" y="48920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College administrative staff</a:t>
            </a:r>
            <a:endParaRPr lang="en-US" sz="1100" dirty="0"/>
          </a:p>
        </p:txBody>
      </p:sp>
      <p:pic>
        <p:nvPicPr>
          <p:cNvPr id="11" name="Premium Dark template" descr="/home/user/Kishore-Mohankumar/proposal/source/build/embed/card-f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713" y="1554480"/>
            <a:ext cx="1698718" cy="270662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297680" y="4434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Premium Dark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4297680" y="48920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Field executive</a:t>
            </a:r>
            <a:endParaRPr lang="en-US" sz="1100" dirty="0"/>
          </a:p>
        </p:txBody>
      </p:sp>
      <p:pic>
        <p:nvPicPr>
          <p:cNvPr id="14" name="University Institutional template" descr="/home/user/Kishore-Mohankumar/proposal/source/build/embed/card-profess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233" y="1554480"/>
            <a:ext cx="1698718" cy="270662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172200" y="4434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University Institutional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6172200" y="48920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University professor</a:t>
            </a:r>
            <a:endParaRPr lang="en-US" sz="1100" dirty="0"/>
          </a:p>
        </p:txBody>
      </p:sp>
      <p:pic>
        <p:nvPicPr>
          <p:cNvPr id="17" name="Healthcare Professional template" descr="/home/user/Kishore-Mohankumar/proposal/source/build/embed/card-hospi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753" y="1554480"/>
            <a:ext cx="1698718" cy="270662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046720" y="4434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Healthcare Professional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8046720" y="48920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Hospital employee</a:t>
            </a:r>
            <a:endParaRPr lang="en-US" sz="1100" dirty="0"/>
          </a:p>
        </p:txBody>
      </p:sp>
      <p:pic>
        <p:nvPicPr>
          <p:cNvPr id="20" name="Financial Services template" descr="/home/user/Kishore-Mohankumar/proposal/source/build/embed/card-ag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2273" y="1554480"/>
            <a:ext cx="1698718" cy="270662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921240" y="4434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Financial Services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9921240" y="48920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Loan recovery agent</a:t>
            </a:r>
            <a:endParaRPr lang="en-US" sz="1100" dirty="0"/>
          </a:p>
        </p:txBody>
      </p:sp>
      <p:sp>
        <p:nvSpPr>
          <p:cNvPr id="23" name="panel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4" name="Text 15"/>
          <p:cNvSpPr txBox="1"/>
          <p:nvPr/>
        </p:nvSpPr>
        <p:spPr>
          <a:xfrm>
            <a:off x="822960" y="544068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Every template supports: organisation logo · photograph · name · employee ID · designation · department · branch · category · validity · unique QR · live status · official contact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QR VERIFICATION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six-step workflow that always checks live status</a:t>
            </a:r>
            <a:endParaRPr lang="en-US" sz="3000" dirty="0"/>
          </a:p>
        </p:txBody>
      </p:sp>
      <p:sp>
        <p:nvSpPr>
          <p:cNvPr id="5" name="icon tile"/>
          <p:cNvSpPr/>
          <p:nvPr/>
        </p:nvSpPr>
        <p:spPr>
          <a:xfrm>
            <a:off x="548640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6" name="idcard icon" descr="/home/user/Kishore-Mohankumar/proposal/source/build/icons/idcard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827703"/>
            <a:ext cx="294803" cy="29480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07008" y="1975104"/>
            <a:ext cx="10972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</a:ln>
        </p:spPr>
      </p:sp>
      <p:sp>
        <p:nvSpPr>
          <p:cNvPr id="8" name="Text 4"/>
          <p:cNvSpPr txBox="1"/>
          <p:nvPr/>
        </p:nvSpPr>
        <p:spPr>
          <a:xfrm>
            <a:off x="54864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ID presented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Employee shows their digital or printed ID</a:t>
            </a:r>
            <a:endParaRPr lang="en-US" sz="1200" dirty="0"/>
          </a:p>
        </p:txBody>
      </p:sp>
      <p:sp>
        <p:nvSpPr>
          <p:cNvPr id="10" name="icon tile"/>
          <p:cNvSpPr/>
          <p:nvPr/>
        </p:nvSpPr>
        <p:spPr>
          <a:xfrm>
            <a:off x="2404872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scan icon" descr="/home/user/Kishore-Mohankumar/proposal/source/build/icons/scan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35" y="1827703"/>
            <a:ext cx="294803" cy="29480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063240" y="1975104"/>
            <a:ext cx="10972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</a:ln>
        </p:spPr>
      </p:sp>
      <p:sp>
        <p:nvSpPr>
          <p:cNvPr id="13" name="Text 8"/>
          <p:cNvSpPr txBox="1"/>
          <p:nvPr/>
        </p:nvSpPr>
        <p:spPr>
          <a:xfrm>
            <a:off x="2404872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QR scanned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2404872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Any phone camera, no app or login</a:t>
            </a:r>
            <a:endParaRPr lang="en-US" sz="1200" dirty="0"/>
          </a:p>
        </p:txBody>
      </p:sp>
      <p:sp>
        <p:nvSpPr>
          <p:cNvPr id="15" name="icon tile"/>
          <p:cNvSpPr/>
          <p:nvPr/>
        </p:nvSpPr>
        <p:spPr>
          <a:xfrm>
            <a:off x="4261104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6" name="link icon" descr="/home/user/Kishore-Mohankumar/proposal/source/build/icons/link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167" y="1827703"/>
            <a:ext cx="294803" cy="29480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919472" y="1975104"/>
            <a:ext cx="10972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</a:ln>
        </p:spPr>
      </p:sp>
      <p:sp>
        <p:nvSpPr>
          <p:cNvPr id="18" name="Text 12"/>
          <p:cNvSpPr txBox="1"/>
          <p:nvPr/>
        </p:nvSpPr>
        <p:spPr>
          <a:xfrm>
            <a:off x="4261104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Secure link opens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261104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Unique, non-guessable credential URL</a:t>
            </a:r>
            <a:endParaRPr lang="en-US" sz="1200" dirty="0"/>
          </a:p>
        </p:txBody>
      </p:sp>
      <p:sp>
        <p:nvSpPr>
          <p:cNvPr id="20" name="icon tile"/>
          <p:cNvSpPr/>
          <p:nvPr/>
        </p:nvSpPr>
        <p:spPr>
          <a:xfrm>
            <a:off x="6117336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1" name="db icon" descr="/home/user/Kishore-Mohankumar/proposal/source/build/icons/db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399" y="1827703"/>
            <a:ext cx="294803" cy="294803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775704" y="1975104"/>
            <a:ext cx="10972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</a:ln>
        </p:spPr>
      </p:sp>
      <p:sp>
        <p:nvSpPr>
          <p:cNvPr id="23" name="Text 16"/>
          <p:cNvSpPr txBox="1"/>
          <p:nvPr/>
        </p:nvSpPr>
        <p:spPr>
          <a:xfrm>
            <a:off x="6117336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 Status checked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6117336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Server-side lookup, never in the QR itself</a:t>
            </a:r>
            <a:endParaRPr lang="en-US" sz="1200" dirty="0"/>
          </a:p>
        </p:txBody>
      </p:sp>
      <p:sp>
        <p:nvSpPr>
          <p:cNvPr id="25" name="icon tile"/>
          <p:cNvSpPr/>
          <p:nvPr/>
        </p:nvSpPr>
        <p:spPr>
          <a:xfrm>
            <a:off x="7973568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6" name="user icon" descr="/home/user/Kishore-Mohankumar/proposal/source/build/icons/user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631" y="1827703"/>
            <a:ext cx="294803" cy="294803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631936" y="1975104"/>
            <a:ext cx="10972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</a:ln>
        </p:spPr>
      </p:sp>
      <p:sp>
        <p:nvSpPr>
          <p:cNvPr id="28" name="Text 20"/>
          <p:cNvSpPr txBox="1"/>
          <p:nvPr/>
        </p:nvSpPr>
        <p:spPr>
          <a:xfrm>
            <a:off x="7973568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5. Details shown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7973568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Only fields the organisation approves</a:t>
            </a:r>
            <a:endParaRPr lang="en-US" sz="1200" dirty="0"/>
          </a:p>
        </p:txBody>
      </p:sp>
      <p:sp>
        <p:nvSpPr>
          <p:cNvPr id="30" name="icon tile"/>
          <p:cNvSpPr/>
          <p:nvPr/>
        </p:nvSpPr>
        <p:spPr>
          <a:xfrm>
            <a:off x="9829800" y="1691640"/>
            <a:ext cx="566928" cy="56692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1" name="check icon" descr="/home/user/Kishore-Mohankumar/proposal/source/build/icons/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5863" y="1827703"/>
            <a:ext cx="294803" cy="29480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82980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6. Verdict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9829800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Active · Suspended · Expired · Revoked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Built-in safeguards</a:t>
            </a:r>
            <a:endParaRPr lang="en-US" sz="1800" dirty="0"/>
          </a:p>
        </p:txBody>
      </p:sp>
      <p:sp>
        <p:nvSpPr>
          <p:cNvPr id="35" name="icon tile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6" name="key icon" descr="/home/user/Kishore-Mohankumar/proposal/source/build/icons/key-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2" y="4389852"/>
            <a:ext cx="199705" cy="199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078992" y="4297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Unique, non-guessable identifiers</a:t>
            </a:r>
            <a:endParaRPr lang="en-US" sz="1350" dirty="0"/>
          </a:p>
        </p:txBody>
      </p:sp>
      <p:sp>
        <p:nvSpPr>
          <p:cNvPr id="38" name="icon tile"/>
          <p:cNvSpPr/>
          <p:nvPr/>
        </p:nvSpPr>
        <p:spPr>
          <a:xfrm>
            <a:off x="4251960" y="4297680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9" name="db icon" descr="/home/user/Kishore-Mohankumar/proposal/source/build/icons/db-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4132" y="4389852"/>
            <a:ext cx="199705" cy="1997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4782312" y="4297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Server-side verification only</a:t>
            </a:r>
            <a:endParaRPr lang="en-US" sz="1350" dirty="0"/>
          </a:p>
        </p:txBody>
      </p:sp>
      <p:sp>
        <p:nvSpPr>
          <p:cNvPr id="41" name="icon tile"/>
          <p:cNvSpPr/>
          <p:nvPr/>
        </p:nvSpPr>
        <p:spPr>
          <a:xfrm>
            <a:off x="7955280" y="4297680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42" name="ban icon" descr="/home/user/Kishore-Mohankumar/proposal/source/build/icons/ban-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7452" y="4389852"/>
            <a:ext cx="199705" cy="19970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485632" y="4297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Revoked IDs never appear valid</a:t>
            </a:r>
            <a:endParaRPr lang="en-US" sz="1350" dirty="0"/>
          </a:p>
        </p:txBody>
      </p:sp>
      <p:sp>
        <p:nvSpPr>
          <p:cNvPr id="44" name="icon tile"/>
          <p:cNvSpPr/>
          <p:nvPr/>
        </p:nvSpPr>
        <p:spPr>
          <a:xfrm>
            <a:off x="548640" y="495604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45" name="eye icon" descr="/home/user/Kishore-Mohankumar/proposal/source/build/icons/eye-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812" y="5048220"/>
            <a:ext cx="199705" cy="199705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078992" y="4956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Confidential data never exposed</a:t>
            </a:r>
            <a:endParaRPr lang="en-US" sz="1350" dirty="0"/>
          </a:p>
        </p:txBody>
      </p:sp>
      <p:sp>
        <p:nvSpPr>
          <p:cNvPr id="47" name="icon tile"/>
          <p:cNvSpPr/>
          <p:nvPr/>
        </p:nvSpPr>
        <p:spPr>
          <a:xfrm>
            <a:off x="4251960" y="495604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48" name="lock icon" descr="/home/user/Kishore-Mohankumar/proposal/source/build/icons/lock-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4132" y="5048220"/>
            <a:ext cx="199705" cy="199705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4782312" y="4956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Anti-tampering &amp; rate limiting</a:t>
            </a:r>
            <a:endParaRPr lang="en-US" sz="1350" dirty="0"/>
          </a:p>
        </p:txBody>
      </p:sp>
      <p:sp>
        <p:nvSpPr>
          <p:cNvPr id="50" name="icon tile"/>
          <p:cNvSpPr/>
          <p:nvPr/>
        </p:nvSpPr>
        <p:spPr>
          <a:xfrm>
            <a:off x="7955280" y="495604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51" name="clock icon" descr="/home/user/Kishore-Mohankumar/proposal/source/build/icons/clock-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7452" y="5048220"/>
            <a:ext cx="199705" cy="19970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485632" y="4956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Verification timestamp on every result</a:t>
            </a:r>
            <a:endParaRPr lang="en-US" sz="1350" dirty="0"/>
          </a:p>
        </p:txBody>
      </p:sp>
      <p:sp>
        <p:nvSpPr>
          <p:cNvPr id="53" name="panel"/>
          <p:cNvSpPr/>
          <p:nvPr/>
        </p:nvSpPr>
        <p:spPr>
          <a:xfrm>
            <a:off x="548640" y="5669280"/>
            <a:ext cx="11064240" cy="457200"/>
          </a:xfrm>
          <a:prstGeom prst="roundRect">
            <a:avLst>
              <a:gd name="adj" fmla="val 32000"/>
            </a:avLst>
          </a:prstGeom>
          <a:solidFill>
            <a:schemeClr val="bg2"/>
          </a:solidFill>
          <a:ln/>
        </p:spPr>
      </p:sp>
      <p:sp>
        <p:nvSpPr>
          <p:cNvPr id="54" name="Text 39"/>
          <p:cNvSpPr txBox="1"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QR verification confirms credential status. It does not independently prove the physical identity of the person presenting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CUSTOMER &amp; VISITOR VERIFICATION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a verifier sees — in seconds, without an app</a:t>
            </a:r>
            <a:endParaRPr lang="en-US" sz="3000" dirty="0"/>
          </a:p>
        </p:txBody>
      </p:sp>
      <p:pic>
        <p:nvPicPr>
          <p:cNvPr id="5" name="Verified active result" descr="/home/user/Kishore-Mohankumar/proposal/source/build/embed/verification-page-a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999" y="1371600"/>
            <a:ext cx="2369922" cy="4892040"/>
          </a:xfrm>
          <a:prstGeom prst="rect">
            <a:avLst/>
          </a:prstGeom>
        </p:spPr>
      </p:pic>
      <p:pic>
        <p:nvPicPr>
          <p:cNvPr id="6" name="Revoked result" descr="/home/user/Kishore-Mohankumar/proposal/source/build/embed/verification-page-revo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799" y="1371600"/>
            <a:ext cx="2369922" cy="4892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verification page shows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6583680" y="210312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Verified / Not Active status, prominently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Employee photograph and name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Employee ID, designation, department, branch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Organisation and issuing organisation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Validity date and verification timestamp</a:t>
            </a:r>
            <a:endParaRPr lang="en-US" sz="1400" dirty="0"/>
          </a:p>
        </p:txBody>
      </p:sp>
      <p:sp>
        <p:nvSpPr>
          <p:cNvPr id="9" name="panel"/>
          <p:cNvSpPr/>
          <p:nvPr/>
        </p:nvSpPr>
        <p:spPr>
          <a:xfrm>
            <a:off x="6583680" y="4343400"/>
            <a:ext cx="5029200" cy="17373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0" name="icon tile"/>
          <p:cNvSpPr/>
          <p:nvPr/>
        </p:nvSpPr>
        <p:spPr>
          <a:xfrm>
            <a:off x="6812280" y="457200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1" name="shield icon" descr="/home/user/Kishore-Mohankumar/proposal/source/build/icons/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619" y="4677339"/>
            <a:ext cx="228234" cy="22823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406640" y="45537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Designed for trust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7406640" y="487375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Suspended, expired and revoked credentials are clearly marked as not active. Only fields approved by the organisation are ever displayed.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ENTERPRISE ADMIN DASHBOARD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console for the entire identity lifecycle</a:t>
            </a:r>
            <a:endParaRPr lang="en-US" sz="3000" dirty="0"/>
          </a:p>
        </p:txBody>
      </p:sp>
      <p:pic>
        <p:nvPicPr>
          <p:cNvPr id="5" name="Admin dashboard overview" descr="/home/user/Kishore-Mohankumar/proposal/source/build/embed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611385" cy="4800600"/>
          </a:xfrm>
          <a:prstGeom prst="rect">
            <a:avLst/>
          </a:prstGeom>
        </p:spPr>
      </p:pic>
      <p:sp>
        <p:nvSpPr>
          <p:cNvPr id="6" name="icon tile"/>
          <p:cNvSpPr/>
          <p:nvPr/>
        </p:nvSpPr>
        <p:spPr>
          <a:xfrm>
            <a:off x="8412480" y="150876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grid icon" descr="/home/user/Kishore-Mohankumar/proposal/source/build/icons/grid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819" y="1614099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015984" y="149047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Overview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9015984" y="178308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Totals, active, suspended, expired, recently issued, verifications</a:t>
            </a:r>
            <a:endParaRPr lang="en-US" sz="1250" dirty="0"/>
          </a:p>
        </p:txBody>
      </p:sp>
      <p:sp>
        <p:nvSpPr>
          <p:cNvPr id="10" name="icon tile"/>
          <p:cNvSpPr/>
          <p:nvPr/>
        </p:nvSpPr>
        <p:spPr>
          <a:xfrm>
            <a:off x="8412480" y="2450592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users icon" descr="/home/user/Kishore-Mohankumar/proposal/source/build/icons/users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819" y="2555931"/>
            <a:ext cx="228234" cy="22823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015984" y="243230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Employee management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9015984" y="2724912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Add, edit, photo, department, branch, designation, renew</a:t>
            </a:r>
            <a:endParaRPr lang="en-US" sz="1250" dirty="0"/>
          </a:p>
        </p:txBody>
      </p:sp>
      <p:sp>
        <p:nvSpPr>
          <p:cNvPr id="14" name="icon tile"/>
          <p:cNvSpPr/>
          <p:nvPr/>
        </p:nvSpPr>
        <p:spPr>
          <a:xfrm>
            <a:off x="8412480" y="3392424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idcard icon" descr="/home/user/Kishore-Mohankumar/proposal/source/build/icons/idcard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819" y="3497763"/>
            <a:ext cx="228234" cy="22823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015984" y="337413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Credential status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9015984" y="3666744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Activate · suspend · expire · revoke, with history</a:t>
            </a:r>
            <a:endParaRPr lang="en-US" sz="1250" dirty="0"/>
          </a:p>
        </p:txBody>
      </p:sp>
      <p:sp>
        <p:nvSpPr>
          <p:cNvPr id="18" name="icon tile"/>
          <p:cNvSpPr/>
          <p:nvPr/>
        </p:nvSpPr>
        <p:spPr>
          <a:xfrm>
            <a:off x="8412480" y="4334256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9" name="building icon" descr="/home/user/Kishore-Mohankumar/proposal/source/build/icons/building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819" y="4439595"/>
            <a:ext cx="228234" cy="22823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015984" y="431596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Organisation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9015984" y="4608576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Profile, logo, colours, templates, branches, roles</a:t>
            </a:r>
            <a:endParaRPr lang="en-US" sz="1250" dirty="0"/>
          </a:p>
        </p:txBody>
      </p:sp>
      <p:sp>
        <p:nvSpPr>
          <p:cNvPr id="22" name="icon tile"/>
          <p:cNvSpPr/>
          <p:nvPr/>
        </p:nvSpPr>
        <p:spPr>
          <a:xfrm>
            <a:off x="8412480" y="5276088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3" name="lock icon" descr="/home/user/Kishore-Mohankumar/proposal/source/build/icons/lock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819" y="5381427"/>
            <a:ext cx="228234" cy="22823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015984" y="5257800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Security &amp; audit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9015984" y="5550408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Role-based access, activity and access logs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BULK EMPLOYEE ONBOARDING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Hundreds of identities in a single, validated batch</a:t>
            </a:r>
            <a:endParaRPr lang="en-US" sz="3000" dirty="0"/>
          </a:p>
        </p:txBody>
      </p:sp>
      <p:pic>
        <p:nvPicPr>
          <p:cNvPr id="5" name="Bulk onboarding screen" descr="/home/user/Kishore-Mohankumar/proposal/source/build/embed/bulk-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64056"/>
            <a:ext cx="7498080" cy="4707128"/>
          </a:xfrm>
          <a:prstGeom prst="rect">
            <a:avLst/>
          </a:prstGeom>
        </p:spPr>
      </p:pic>
      <p:sp>
        <p:nvSpPr>
          <p:cNvPr id="6" name="icon tile"/>
          <p:cNvSpPr/>
          <p:nvPr/>
        </p:nvSpPr>
        <p:spPr>
          <a:xfrm>
            <a:off x="548640" y="1645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upload icon" descr="/home/user/Kishore-Mohankumar/proposal/source/build/icons/upload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9" y="1751259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52144" y="162763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Excel / CSV import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152144" y="192024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Standard template or mapped columns</a:t>
            </a:r>
            <a:endParaRPr lang="en-US" sz="1250" dirty="0"/>
          </a:p>
        </p:txBody>
      </p:sp>
      <p:sp>
        <p:nvSpPr>
          <p:cNvPr id="10" name="icon tile"/>
          <p:cNvSpPr/>
          <p:nvPr/>
        </p:nvSpPr>
        <p:spPr>
          <a:xfrm>
            <a:off x="548640" y="274320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check icon" descr="/home/user/Kishore-Mohankumar/proposal/source/build/icons/check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9" y="2848539"/>
            <a:ext cx="228234" cy="22823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52144" y="272491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Validation &amp; error reports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152144" y="301752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Missing fields, duplicates, invalid dates</a:t>
            </a:r>
            <a:endParaRPr lang="en-US" sz="1250" dirty="0"/>
          </a:p>
        </p:txBody>
      </p:sp>
      <p:sp>
        <p:nvSpPr>
          <p:cNvPr id="14" name="icon tile"/>
          <p:cNvSpPr/>
          <p:nvPr/>
        </p:nvSpPr>
        <p:spPr>
          <a:xfrm>
            <a:off x="548640" y="384048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idcard icon" descr="/home/user/Kishore-Mohankumar/proposal/source/build/icons/idcard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9" y="3945819"/>
            <a:ext cx="228234" cy="22823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52144" y="3822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Bulk ID generation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52144" y="411480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On the organisation’s default template</a:t>
            </a:r>
            <a:endParaRPr lang="en-US" sz="1250" dirty="0"/>
          </a:p>
        </p:txBody>
      </p:sp>
      <p:sp>
        <p:nvSpPr>
          <p:cNvPr id="18" name="icon tile"/>
          <p:cNvSpPr/>
          <p:nvPr/>
        </p:nvSpPr>
        <p:spPr>
          <a:xfrm>
            <a:off x="548640" y="493776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9" name="refresh icon" descr="/home/user/Kishore-Mohankumar/proposal/source/build/icons/refresh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79" y="5043099"/>
            <a:ext cx="228234" cy="22823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52144" y="491947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Bulk activate · renew · suspend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1152144" y="521208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With reasons and approvals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DIGITAL STAFF DIRECTORY · OPTIONAL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Find the right person — with privacy set by the organisation</a:t>
            </a:r>
            <a:endParaRPr lang="en-US" sz="3000" dirty="0"/>
          </a:p>
        </p:txBody>
      </p:sp>
      <p:pic>
        <p:nvPicPr>
          <p:cNvPr id="5" name="Staff directory" descr="/home/user/Kishore-Mohankumar/proposal/source/build/embed/staff-dir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5354"/>
            <a:ext cx="7589520" cy="4764532"/>
          </a:xfrm>
          <a:prstGeom prst="rect">
            <a:avLst/>
          </a:prstGeom>
        </p:spPr>
      </p:pic>
      <p:sp>
        <p:nvSpPr>
          <p:cNvPr id="6" name="icon tile"/>
          <p:cNvSpPr/>
          <p:nvPr/>
        </p:nvSpPr>
        <p:spPr>
          <a:xfrm>
            <a:off x="8412480" y="1645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search icon" descr="/home/user/Kishore-Mohankumar/proposal/source/build/icons/search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819" y="1751259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015984" y="162763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9015984" y="1920240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By employee name or employee ID</a:t>
            </a:r>
            <a:endParaRPr lang="en-US" sz="1250" dirty="0"/>
          </a:p>
        </p:txBody>
      </p:sp>
      <p:sp>
        <p:nvSpPr>
          <p:cNvPr id="10" name="icon tile"/>
          <p:cNvSpPr/>
          <p:nvPr/>
        </p:nvSpPr>
        <p:spPr>
          <a:xfrm>
            <a:off x="8412480" y="274320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filter icon" descr="/home/user/Kishore-Mohankumar/proposal/source/build/icons/filter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819" y="2848539"/>
            <a:ext cx="228234" cy="22823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015984" y="272491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Filter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9015984" y="3017520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By department, designation or branch</a:t>
            </a:r>
            <a:endParaRPr lang="en-US" sz="1250" dirty="0"/>
          </a:p>
        </p:txBody>
      </p:sp>
      <p:sp>
        <p:nvSpPr>
          <p:cNvPr id="14" name="icon tile"/>
          <p:cNvSpPr/>
          <p:nvPr/>
        </p:nvSpPr>
        <p:spPr>
          <a:xfrm>
            <a:off x="8412480" y="384048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mail icon" descr="/home/user/Kishore-Mohankumar/proposal/source/build/icons/mail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819" y="3945819"/>
            <a:ext cx="228234" cy="22823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015984" y="382219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Official contact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9015984" y="4114800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Email or office line, where authorised</a:t>
            </a:r>
            <a:endParaRPr lang="en-US" sz="1250" dirty="0"/>
          </a:p>
        </p:txBody>
      </p:sp>
      <p:sp>
        <p:nvSpPr>
          <p:cNvPr id="18" name="icon tile"/>
          <p:cNvSpPr/>
          <p:nvPr/>
        </p:nvSpPr>
        <p:spPr>
          <a:xfrm>
            <a:off x="8412480" y="493776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9" name="eye icon" descr="/home/user/Kishore-Mohankumar/proposal/source/build/icons/eye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819" y="5043099"/>
            <a:ext cx="228234" cy="22823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015984" y="491947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Visibility controls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9015984" y="5212080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Organisation chooses every visible field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STAFF COMMUNICATION &amp; SERVICE LINKS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identity page becomes a gateway to existing systems</a:t>
            </a:r>
            <a:endParaRPr lang="en-US" sz="3000" dirty="0"/>
          </a:p>
        </p:txBody>
      </p:sp>
      <p:pic>
        <p:nvPicPr>
          <p:cNvPr id="5" name="Staff service links on phone" descr="/home/user/Kishore-Mohankumar/proposal/source/build/embed/staff-service-li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439" y="1371600"/>
            <a:ext cx="2369922" cy="4892040"/>
          </a:xfrm>
          <a:prstGeom prst="rect">
            <a:avLst/>
          </a:prstGeom>
        </p:spPr>
      </p:pic>
      <p:sp>
        <p:nvSpPr>
          <p:cNvPr id="6" name="panel"/>
          <p:cNvSpPr/>
          <p:nvPr/>
        </p:nvSpPr>
        <p:spPr>
          <a:xfrm>
            <a:off x="4023360" y="1645920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7" name="Image 1" descr="/home/user/Kishore-Mohankumar/proposal/source/build/icons/users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801368"/>
            <a:ext cx="292608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81728" y="164592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HR portal</a:t>
            </a:r>
            <a:endParaRPr lang="en-US" sz="1400" dirty="0"/>
          </a:p>
        </p:txBody>
      </p:sp>
      <p:sp>
        <p:nvSpPr>
          <p:cNvPr id="9" name="panel"/>
          <p:cNvSpPr/>
          <p:nvPr/>
        </p:nvSpPr>
        <p:spPr>
          <a:xfrm>
            <a:off x="7863840" y="1645920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10" name="Image 2" descr="/home/user/Kishore-Mohankumar/proposal/source/build/icons/cal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801368"/>
            <a:ext cx="292608" cy="2926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522208" y="164592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Leave management portal</a:t>
            </a:r>
            <a:endParaRPr lang="en-US" sz="1400" dirty="0"/>
          </a:p>
        </p:txBody>
      </p:sp>
      <p:sp>
        <p:nvSpPr>
          <p:cNvPr id="12" name="panel"/>
          <p:cNvSpPr/>
          <p:nvPr/>
        </p:nvSpPr>
        <p:spPr>
          <a:xfrm>
            <a:off x="4023360" y="2395728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13" name="Image 3" descr="/home/user/Kishore-Mohankumar/proposal/source/build/icons/help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551176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681728" y="23957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Internal helpdesk</a:t>
            </a:r>
            <a:endParaRPr lang="en-US" sz="1400" dirty="0"/>
          </a:p>
        </p:txBody>
      </p:sp>
      <p:sp>
        <p:nvSpPr>
          <p:cNvPr id="15" name="panel"/>
          <p:cNvSpPr/>
          <p:nvPr/>
        </p:nvSpPr>
        <p:spPr>
          <a:xfrm>
            <a:off x="7863840" y="2395728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16" name="Image 4" descr="/home/user/Kishore-Mohankumar/proposal/source/build/icons/book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2551176"/>
            <a:ext cx="292608" cy="29260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522208" y="23957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Staff handbook</a:t>
            </a:r>
            <a:endParaRPr lang="en-US" sz="1400" dirty="0"/>
          </a:p>
        </p:txBody>
      </p:sp>
      <p:sp>
        <p:nvSpPr>
          <p:cNvPr id="18" name="panel"/>
          <p:cNvSpPr/>
          <p:nvPr/>
        </p:nvSpPr>
        <p:spPr>
          <a:xfrm>
            <a:off x="4023360" y="3145536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19" name="Image 5" descr="/home/user/Kishore-Mohankumar/proposal/source/build/icons/mega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528" y="3300984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681728" y="314553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Official circulars</a:t>
            </a:r>
            <a:endParaRPr lang="en-US" sz="1400" dirty="0"/>
          </a:p>
        </p:txBody>
      </p:sp>
      <p:sp>
        <p:nvSpPr>
          <p:cNvPr id="21" name="panel"/>
          <p:cNvSpPr/>
          <p:nvPr/>
        </p:nvSpPr>
        <p:spPr>
          <a:xfrm>
            <a:off x="7863840" y="3145536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22" name="Image 6" descr="/home/user/Kishore-Mohankumar/proposal/source/build/icons/cap-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008" y="3300984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8522208" y="314553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Training resources</a:t>
            </a:r>
            <a:endParaRPr lang="en-US" sz="1400" dirty="0"/>
          </a:p>
        </p:txBody>
      </p:sp>
      <p:sp>
        <p:nvSpPr>
          <p:cNvPr id="24" name="panel"/>
          <p:cNvSpPr/>
          <p:nvPr/>
        </p:nvSpPr>
        <p:spPr>
          <a:xfrm>
            <a:off x="4023360" y="3895344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25" name="Image 7" descr="/home/user/Kishore-Mohankumar/proposal/source/build/icons/cal-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4528" y="4050792"/>
            <a:ext cx="292608" cy="292608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4681728" y="389534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Event registrations</a:t>
            </a:r>
            <a:endParaRPr lang="en-US" sz="1400" dirty="0"/>
          </a:p>
        </p:txBody>
      </p:sp>
      <p:sp>
        <p:nvSpPr>
          <p:cNvPr id="27" name="panel"/>
          <p:cNvSpPr/>
          <p:nvPr/>
        </p:nvSpPr>
        <p:spPr>
          <a:xfrm>
            <a:off x="7863840" y="3895344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28" name="Image 8" descr="/home/user/Kishore-Mohankumar/proposal/source/build/icons/globe-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5008" y="4050792"/>
            <a:ext cx="292608" cy="292608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8522208" y="389534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Department websites</a:t>
            </a:r>
            <a:endParaRPr lang="en-US" sz="1400" dirty="0"/>
          </a:p>
        </p:txBody>
      </p:sp>
      <p:sp>
        <p:nvSpPr>
          <p:cNvPr id="30" name="panel"/>
          <p:cNvSpPr/>
          <p:nvPr/>
        </p:nvSpPr>
        <p:spPr>
          <a:xfrm>
            <a:off x="4023360" y="4645152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31" name="Image 9" descr="/home/user/Kishore-Mohankumar/proposal/source/build/icons/alert-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4528" y="4800600"/>
            <a:ext cx="292608" cy="29260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681728" y="464515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Emergency information</a:t>
            </a:r>
            <a:endParaRPr lang="en-US" sz="1400" dirty="0"/>
          </a:p>
        </p:txBody>
      </p:sp>
      <p:sp>
        <p:nvSpPr>
          <p:cNvPr id="33" name="panel"/>
          <p:cNvSpPr/>
          <p:nvPr/>
        </p:nvSpPr>
        <p:spPr>
          <a:xfrm>
            <a:off x="7863840" y="4645152"/>
            <a:ext cx="3611880" cy="603504"/>
          </a:xfrm>
          <a:prstGeom prst="roundRect">
            <a:avLst>
              <a:gd name="adj" fmla="val 24242"/>
            </a:avLst>
          </a:prstGeom>
          <a:solidFill>
            <a:schemeClr val="bg2"/>
          </a:solidFill>
          <a:ln/>
        </p:spPr>
      </p:sp>
      <p:pic>
        <p:nvPicPr>
          <p:cNvPr id="34" name="Image 10" descr="/home/user/Kishore-Mohankumar/proposal/source/build/icons/msg-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5008" y="4800600"/>
            <a:ext cx="292608" cy="292608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8522208" y="464515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Feedback &amp; grievance</a:t>
            </a:r>
            <a:endParaRPr lang="en-US" sz="1400" dirty="0"/>
          </a:p>
        </p:txBody>
      </p:sp>
      <p:sp>
        <p:nvSpPr>
          <p:cNvPr id="36" name="Text 22"/>
          <p:cNvSpPr txBox="1"/>
          <p:nvPr/>
        </p:nvSpPr>
        <p:spPr>
          <a:xfrm>
            <a:off x="4023360" y="5532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Links open the organisation’s existing systems. Infinitia Links does not replace an HRMS, payroll or attendance platform.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UNIVERSITIES &amp; COLLEGES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identity platform across campuses, faculties and staff</a:t>
            </a:r>
            <a:endParaRPr lang="en-US" sz="3000" dirty="0"/>
          </a:p>
        </p:txBody>
      </p:sp>
      <p:pic>
        <p:nvPicPr>
          <p:cNvPr id="5" name="University professor digital ID" descr="/home/user/Kishore-Mohankumar/proposal/source/build/embed/phone-university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2365" y="1325880"/>
            <a:ext cx="2392070" cy="4937760"/>
          </a:xfrm>
          <a:prstGeom prst="rect">
            <a:avLst/>
          </a:prstGeom>
        </p:spPr>
      </p:pic>
      <p:sp>
        <p:nvSpPr>
          <p:cNvPr id="6" name="icon tile"/>
          <p:cNvSpPr/>
          <p:nvPr/>
        </p:nvSpPr>
        <p:spPr>
          <a:xfrm>
            <a:off x="548640" y="1645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cap icon" descr="/home/user/Kishore-Mohankumar/proposal/source/build/icons/cap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9" y="1751259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52144" y="162763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Faculty &amp; professors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152144" y="192024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Verified academic identity with department and designation</a:t>
            </a:r>
            <a:endParaRPr lang="en-US" sz="1250" dirty="0"/>
          </a:p>
        </p:txBody>
      </p:sp>
      <p:sp>
        <p:nvSpPr>
          <p:cNvPr id="10" name="icon tile"/>
          <p:cNvSpPr/>
          <p:nvPr/>
        </p:nvSpPr>
        <p:spPr>
          <a:xfrm>
            <a:off x="4480560" y="1645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building icon" descr="/home/user/Kishore-Mohankumar/proposal/source/build/icons/building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899" y="1751259"/>
            <a:ext cx="228234" cy="22823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084064" y="162763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Administrative staff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5084064" y="192024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Registrar, examination, accounts and support staff</a:t>
            </a:r>
            <a:endParaRPr lang="en-US" sz="1250" dirty="0"/>
          </a:p>
        </p:txBody>
      </p:sp>
      <p:sp>
        <p:nvSpPr>
          <p:cNvPr id="14" name="icon tile"/>
          <p:cNvSpPr/>
          <p:nvPr/>
        </p:nvSpPr>
        <p:spPr>
          <a:xfrm>
            <a:off x="548640" y="2852928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users icon" descr="/home/user/Kishore-Mohankumar/proposal/source/build/icons/users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9" y="2958267"/>
            <a:ext cx="228234" cy="22823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52144" y="28346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Multi-campus institutions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52144" y="312724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Branches and constituent colleges under one console</a:t>
            </a:r>
            <a:endParaRPr lang="en-US" sz="1250" dirty="0"/>
          </a:p>
        </p:txBody>
      </p:sp>
      <p:sp>
        <p:nvSpPr>
          <p:cNvPr id="18" name="icon tile"/>
          <p:cNvSpPr/>
          <p:nvPr/>
        </p:nvSpPr>
        <p:spPr>
          <a:xfrm>
            <a:off x="4480560" y="2852928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9" name="shield icon" descr="/home/user/Kishore-Mohankumar/proposal/source/build/icons/shield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5899" y="2958267"/>
            <a:ext cx="228234" cy="22823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084064" y="28346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Visitor-facing verification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5084064" y="312724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Parents, examiners and partners can verify staff quickly</a:t>
            </a:r>
            <a:endParaRPr lang="en-US" sz="1250" dirty="0"/>
          </a:p>
        </p:txBody>
      </p:sp>
      <p:sp>
        <p:nvSpPr>
          <p:cNvPr id="22" name="icon tile"/>
          <p:cNvSpPr/>
          <p:nvPr/>
        </p:nvSpPr>
        <p:spPr>
          <a:xfrm>
            <a:off x="548640" y="4059936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3" name="list icon" descr="/home/user/Kishore-Mohankumar/proposal/source/build/icons/list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79" y="4165275"/>
            <a:ext cx="228234" cy="22823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52144" y="40416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Academic directory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1152144" y="433425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Optional faculty directory with approved details</a:t>
            </a:r>
            <a:endParaRPr lang="en-US" sz="1250" dirty="0"/>
          </a:p>
        </p:txBody>
      </p:sp>
      <p:sp>
        <p:nvSpPr>
          <p:cNvPr id="26" name="icon tile"/>
          <p:cNvSpPr/>
          <p:nvPr/>
        </p:nvSpPr>
        <p:spPr>
          <a:xfrm>
            <a:off x="4480560" y="4059936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7" name="link icon" descr="/home/user/Kishore-Mohankumar/proposal/source/build/icons/link-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5899" y="4165275"/>
            <a:ext cx="228234" cy="22823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084064" y="40416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Campus service links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5084064" y="433425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LMS, library, circulars and helpdesk shortcuts</a:t>
            </a:r>
            <a:endParaRPr lang="en-US" sz="1250" dirty="0"/>
          </a:p>
        </p:txBody>
      </p:sp>
      <p:sp>
        <p:nvSpPr>
          <p:cNvPr id="30" name="panel"/>
          <p:cNvSpPr/>
          <p:nvPr/>
        </p:nvSpPr>
        <p:spPr>
          <a:xfrm>
            <a:off x="548640" y="5349240"/>
            <a:ext cx="7635240" cy="7315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31" name="Text 21"/>
          <p:cNvSpPr txBox="1"/>
          <p:nvPr/>
        </p:nvSpPr>
        <p:spPr>
          <a:xfrm>
            <a:off x="822960" y="53492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Universities · engineering, medical, dental, nursing &amp; pharmacy colleges · schools · autonomous &amp; research institutions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Trusted identification across wards, shifts and visiting consultants</a:t>
            </a:r>
            <a:endParaRPr lang="en-US" sz="3000" dirty="0"/>
          </a:p>
        </p:txBody>
      </p:sp>
      <p:pic>
        <p:nvPicPr>
          <p:cNvPr id="5" name="Hospital staff digital ID" descr="/home/user/Kishore-Mohankumar/proposal/source/build/embed/phone-hospital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2365" y="1325880"/>
            <a:ext cx="2392070" cy="4937760"/>
          </a:xfrm>
          <a:prstGeom prst="rect">
            <a:avLst/>
          </a:prstGeom>
        </p:spPr>
      </p:pic>
      <p:sp>
        <p:nvSpPr>
          <p:cNvPr id="6" name="icon tile"/>
          <p:cNvSpPr/>
          <p:nvPr/>
        </p:nvSpPr>
        <p:spPr>
          <a:xfrm>
            <a:off x="548640" y="1645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heart icon" descr="/home/user/Kishore-Mohankumar/proposal/source/build/icons/heart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9" y="1751259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52144" y="162763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Clinical &amp; nursing staff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152144" y="192024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Department and role visible at a glance</a:t>
            </a:r>
            <a:endParaRPr lang="en-US" sz="1250" dirty="0"/>
          </a:p>
        </p:txBody>
      </p:sp>
      <p:sp>
        <p:nvSpPr>
          <p:cNvPr id="10" name="icon tile"/>
          <p:cNvSpPr/>
          <p:nvPr/>
        </p:nvSpPr>
        <p:spPr>
          <a:xfrm>
            <a:off x="4480560" y="1645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user icon" descr="/home/user/Kishore-Mohankumar/proposal/source/build/icons/user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899" y="1751259"/>
            <a:ext cx="228234" cy="22823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084064" y="162763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Visiting consultants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5084064" y="192024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Time-bound credentials with clear validity</a:t>
            </a:r>
            <a:endParaRPr lang="en-US" sz="1250" dirty="0"/>
          </a:p>
        </p:txBody>
      </p:sp>
      <p:sp>
        <p:nvSpPr>
          <p:cNvPr id="14" name="icon tile"/>
          <p:cNvSpPr/>
          <p:nvPr/>
        </p:nvSpPr>
        <p:spPr>
          <a:xfrm>
            <a:off x="548640" y="2852928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shield icon" descr="/home/user/Kishore-Mohankumar/proposal/source/build/icons/shield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9" y="2958267"/>
            <a:ext cx="228234" cy="22823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52144" y="28346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Patient-facing trust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52144" y="312724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Patients and families can confirm staff status</a:t>
            </a:r>
            <a:endParaRPr lang="en-US" sz="1250" dirty="0"/>
          </a:p>
        </p:txBody>
      </p:sp>
      <p:sp>
        <p:nvSpPr>
          <p:cNvPr id="18" name="icon tile"/>
          <p:cNvSpPr/>
          <p:nvPr/>
        </p:nvSpPr>
        <p:spPr>
          <a:xfrm>
            <a:off x="4480560" y="2852928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9" name="refresh icon" descr="/home/user/Kishore-Mohankumar/proposal/source/build/icons/refresh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5899" y="2958267"/>
            <a:ext cx="228234" cy="22823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084064" y="28346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Rapid deactivation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5084064" y="312724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Exits and contract ends reflected on the next scan</a:t>
            </a:r>
            <a:endParaRPr lang="en-US" sz="1250" dirty="0"/>
          </a:p>
        </p:txBody>
      </p:sp>
      <p:sp>
        <p:nvSpPr>
          <p:cNvPr id="22" name="icon tile"/>
          <p:cNvSpPr/>
          <p:nvPr/>
        </p:nvSpPr>
        <p:spPr>
          <a:xfrm>
            <a:off x="548640" y="4059936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3" name="building icon" descr="/home/user/Kishore-Mohankumar/proposal/source/build/icons/building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79" y="4165275"/>
            <a:ext cx="228234" cy="22823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52144" y="40416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Multi-facility groups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1152144" y="433425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Hospitals, clinics and diagnostic centres</a:t>
            </a:r>
            <a:endParaRPr lang="en-US" sz="1250" dirty="0"/>
          </a:p>
        </p:txBody>
      </p:sp>
      <p:sp>
        <p:nvSpPr>
          <p:cNvPr id="26" name="icon tile"/>
          <p:cNvSpPr/>
          <p:nvPr/>
        </p:nvSpPr>
        <p:spPr>
          <a:xfrm>
            <a:off x="4480560" y="4059936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7" name="alert icon" descr="/home/user/Kishore-Mohankumar/proposal/source/build/icons/alert-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5899" y="4165275"/>
            <a:ext cx="228234" cy="22823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084064" y="40416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Emergency information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5084064" y="433425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Links to internal emergency protocols</a:t>
            </a:r>
            <a:endParaRPr lang="en-US" sz="1250" dirty="0"/>
          </a:p>
        </p:txBody>
      </p:sp>
      <p:sp>
        <p:nvSpPr>
          <p:cNvPr id="30" name="panel"/>
          <p:cNvSpPr/>
          <p:nvPr/>
        </p:nvSpPr>
        <p:spPr>
          <a:xfrm>
            <a:off x="548640" y="5349240"/>
            <a:ext cx="7635240" cy="7315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31" name="Text 21"/>
          <p:cNvSpPr txBox="1"/>
          <p:nvPr/>
        </p:nvSpPr>
        <p:spPr>
          <a:xfrm>
            <a:off x="822960" y="53492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Hospitals · clinics · diagnostic centres · medical institutions · healthcare staff and visiting consultants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CORPORATE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Consistent identity for every office, branch and contractor</a:t>
            </a:r>
            <a:endParaRPr lang="en-US" sz="3000" dirty="0"/>
          </a:p>
        </p:txBody>
      </p:sp>
      <p:pic>
        <p:nvPicPr>
          <p:cNvPr id="5" name="Corporate employee digital ID" descr="/home/user/Kishore-Mohankumar/proposal/source/build/embed/phone-corporate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2365" y="1325880"/>
            <a:ext cx="2392070" cy="4937760"/>
          </a:xfrm>
          <a:prstGeom prst="rect">
            <a:avLst/>
          </a:prstGeom>
        </p:spPr>
      </p:pic>
      <p:sp>
        <p:nvSpPr>
          <p:cNvPr id="6" name="icon tile"/>
          <p:cNvSpPr/>
          <p:nvPr/>
        </p:nvSpPr>
        <p:spPr>
          <a:xfrm>
            <a:off x="548640" y="1645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building icon" descr="/home/user/Kishore-Mohankumar/proposal/source/build/icons/building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9" y="1751259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52144" y="162763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Multi-branch organisations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152144" y="192024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Branch-level administration and reporting</a:t>
            </a:r>
            <a:endParaRPr lang="en-US" sz="1250" dirty="0"/>
          </a:p>
        </p:txBody>
      </p:sp>
      <p:sp>
        <p:nvSpPr>
          <p:cNvPr id="10" name="icon tile"/>
          <p:cNvSpPr/>
          <p:nvPr/>
        </p:nvSpPr>
        <p:spPr>
          <a:xfrm>
            <a:off x="4480560" y="1645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users icon" descr="/home/user/Kishore-Mohankumar/proposal/source/build/icons/users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899" y="1751259"/>
            <a:ext cx="228234" cy="22823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084064" y="162763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Employees &amp; contractors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5084064" y="192024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Different categories, templates and validity</a:t>
            </a:r>
            <a:endParaRPr lang="en-US" sz="1250" dirty="0"/>
          </a:p>
        </p:txBody>
      </p:sp>
      <p:sp>
        <p:nvSpPr>
          <p:cNvPr id="14" name="icon tile"/>
          <p:cNvSpPr/>
          <p:nvPr/>
        </p:nvSpPr>
        <p:spPr>
          <a:xfrm>
            <a:off x="548640" y="2852928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refresh icon" descr="/home/user/Kishore-Mohankumar/proposal/source/build/icons/refresh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9" y="2958267"/>
            <a:ext cx="228234" cy="22823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52144" y="28346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Onboarding &amp; offboarding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52144" y="312724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Issue on day one, revoke on exit</a:t>
            </a:r>
            <a:endParaRPr lang="en-US" sz="1250" dirty="0"/>
          </a:p>
        </p:txBody>
      </p:sp>
      <p:sp>
        <p:nvSpPr>
          <p:cNvPr id="18" name="icon tile"/>
          <p:cNvSpPr/>
          <p:nvPr/>
        </p:nvSpPr>
        <p:spPr>
          <a:xfrm>
            <a:off x="4480560" y="2852928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9" name="shield icon" descr="/home/user/Kishore-Mohankumar/proposal/source/build/icons/shield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5899" y="2958267"/>
            <a:ext cx="228234" cy="22823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084064" y="28346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Visitor &amp; client trust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5084064" y="312724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Clients can confirm staff identity status</a:t>
            </a:r>
            <a:endParaRPr lang="en-US" sz="1250" dirty="0"/>
          </a:p>
        </p:txBody>
      </p:sp>
      <p:sp>
        <p:nvSpPr>
          <p:cNvPr id="22" name="icon tile"/>
          <p:cNvSpPr/>
          <p:nvPr/>
        </p:nvSpPr>
        <p:spPr>
          <a:xfrm>
            <a:off x="548640" y="4059936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3" name="palette icon" descr="/home/user/Kishore-Mohankumar/proposal/source/build/icons/palette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79" y="4165275"/>
            <a:ext cx="228234" cy="22823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52144" y="40416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Group branding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1152144" y="433425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Business groups with multiple brands</a:t>
            </a:r>
            <a:endParaRPr lang="en-US" sz="1250" dirty="0"/>
          </a:p>
        </p:txBody>
      </p:sp>
      <p:sp>
        <p:nvSpPr>
          <p:cNvPr id="26" name="icon tile"/>
          <p:cNvSpPr/>
          <p:nvPr/>
        </p:nvSpPr>
        <p:spPr>
          <a:xfrm>
            <a:off x="4480560" y="4059936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7" name="chart icon" descr="/home/user/Kishore-Mohankumar/proposal/source/build/icons/chart-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5899" y="4165275"/>
            <a:ext cx="228234" cy="22823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084064" y="40416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Administrative visibility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5084064" y="433425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Who holds an active credential, at any time</a:t>
            </a:r>
            <a:endParaRPr lang="en-US" sz="1250" dirty="0"/>
          </a:p>
        </p:txBody>
      </p:sp>
      <p:sp>
        <p:nvSpPr>
          <p:cNvPr id="30" name="panel"/>
          <p:cNvSpPr/>
          <p:nvPr/>
        </p:nvSpPr>
        <p:spPr>
          <a:xfrm>
            <a:off x="548640" y="5349240"/>
            <a:ext cx="7635240" cy="7315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31" name="Text 21"/>
          <p:cNvSpPr txBox="1"/>
          <p:nvPr/>
        </p:nvSpPr>
        <p:spPr>
          <a:xfrm>
            <a:off x="822960" y="53492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IT companies · manufacturing · corporate offices · business groups · multi-branch organisations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FIELD EXECUTIVES &amp; LOAN RECOVERY AGENTS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Customers can confirm a field visitor is genuinely authorised</a:t>
            </a:r>
            <a:endParaRPr lang="en-US" sz="3000" dirty="0"/>
          </a:p>
        </p:txBody>
      </p:sp>
      <p:pic>
        <p:nvPicPr>
          <p:cNvPr id="5" name="Recovery agent digital ID" descr="/home/user/Kishore-Mohankumar/proposal/source/build/embed/phone-recovery-agent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5" y="1325880"/>
            <a:ext cx="2392070" cy="4937760"/>
          </a:xfrm>
          <a:prstGeom prst="rect">
            <a:avLst/>
          </a:prstGeom>
        </p:spPr>
      </p:pic>
      <p:pic>
        <p:nvPicPr>
          <p:cNvPr id="6" name="Agent verification page" descr="/home/user/Kishore-Mohankumar/proposal/source/build/embed/verification-page-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545" y="1325880"/>
            <a:ext cx="2392070" cy="49377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Agent identity module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6400800" y="20116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Employer and agency information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Designation and authorised service area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Active / suspended / expired status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Customer complaint and callback links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Official company contact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Verification history for the organisation</a:t>
            </a:r>
            <a:endParaRPr lang="en-US" sz="1350" dirty="0"/>
          </a:p>
        </p:txBody>
      </p:sp>
      <p:sp>
        <p:nvSpPr>
          <p:cNvPr id="9" name="panel"/>
          <p:cNvSpPr/>
          <p:nvPr/>
        </p:nvSpPr>
        <p:spPr>
          <a:xfrm>
            <a:off x="6400800" y="4160520"/>
            <a:ext cx="5257800" cy="19202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0" name="icon tile"/>
          <p:cNvSpPr/>
          <p:nvPr/>
        </p:nvSpPr>
        <p:spPr>
          <a:xfrm>
            <a:off x="6629400" y="43891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pic>
        <p:nvPicPr>
          <p:cNvPr id="11" name="lock icon" descr="/home/user/Kishore-Mohankumar/proposal/source/build/icons/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739" y="4494459"/>
            <a:ext cx="228234" cy="22823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22376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Never shown on public pages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7223760" y="4690872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Borrower account numbers, loan amounts, personal financial information or any confidential customer details. Agent authorisation and lender assignments are provided and approved by the organisation — Infinitia Links does not authorise agents.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OPTIONAL ADVANCED INTEGRATIONS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Extend the platform when you need to — scoped separately</a:t>
            </a:r>
            <a:endParaRPr lang="en-US" sz="3000" dirty="0"/>
          </a:p>
        </p:txBody>
      </p:sp>
      <p:sp>
        <p:nvSpPr>
          <p:cNvPr id="5" name="panel"/>
          <p:cNvSpPr/>
          <p:nvPr/>
        </p:nvSpPr>
        <p:spPr>
          <a:xfrm>
            <a:off x="548640" y="16459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6" name="Image 0" descr="/home/user/Kishore-Mohankumar/proposal/source/build/icons/nfc-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65376"/>
            <a:ext cx="310896" cy="3108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6459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NFC-enabled ID cards</a:t>
            </a:r>
            <a:endParaRPr lang="en-US" sz="1250" dirty="0"/>
          </a:p>
        </p:txBody>
      </p:sp>
      <p:sp>
        <p:nvSpPr>
          <p:cNvPr id="8" name="panel"/>
          <p:cNvSpPr/>
          <p:nvPr/>
        </p:nvSpPr>
        <p:spPr>
          <a:xfrm>
            <a:off x="2880360" y="16459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9" name="Image 1" descr="/home/user/Kishore-Mohankumar/proposal/source/build/icons/wallet-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865376"/>
            <a:ext cx="310896" cy="3108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520440" y="16459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Mobile wallet credentials</a:t>
            </a:r>
            <a:endParaRPr lang="en-US" sz="1250" dirty="0"/>
          </a:p>
        </p:txBody>
      </p:sp>
      <p:sp>
        <p:nvSpPr>
          <p:cNvPr id="11" name="panel"/>
          <p:cNvSpPr/>
          <p:nvPr/>
        </p:nvSpPr>
        <p:spPr>
          <a:xfrm>
            <a:off x="5212080" y="16459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12" name="Image 2" descr="/home/user/Kishore-Mohankumar/proposal/source/build/icons/clock-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865376"/>
            <a:ext cx="310896" cy="3108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852160" y="16459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Attendance system integration</a:t>
            </a:r>
            <a:endParaRPr lang="en-US" sz="1250" dirty="0"/>
          </a:p>
        </p:txBody>
      </p:sp>
      <p:sp>
        <p:nvSpPr>
          <p:cNvPr id="14" name="panel"/>
          <p:cNvSpPr/>
          <p:nvPr/>
        </p:nvSpPr>
        <p:spPr>
          <a:xfrm>
            <a:off x="548640" y="25603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15" name="Image 3" descr="/home/user/Kishore-Mohankumar/proposal/source/build/icons/key-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79776"/>
            <a:ext cx="310896" cy="31089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25603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Physical access control</a:t>
            </a:r>
            <a:endParaRPr lang="en-US" sz="1250" dirty="0"/>
          </a:p>
        </p:txBody>
      </p:sp>
      <p:sp>
        <p:nvSpPr>
          <p:cNvPr id="17" name="panel"/>
          <p:cNvSpPr/>
          <p:nvPr/>
        </p:nvSpPr>
        <p:spPr>
          <a:xfrm>
            <a:off x="2880360" y="25603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18" name="Image 4" descr="/home/user/Kishore-Mohankumar/proposal/source/build/icons/users-vio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2779776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520440" y="25603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Visitor management</a:t>
            </a:r>
            <a:endParaRPr lang="en-US" sz="1250" dirty="0"/>
          </a:p>
        </p:txBody>
      </p:sp>
      <p:sp>
        <p:nvSpPr>
          <p:cNvPr id="20" name="panel"/>
          <p:cNvSpPr/>
          <p:nvPr/>
        </p:nvSpPr>
        <p:spPr>
          <a:xfrm>
            <a:off x="5212080" y="25603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21" name="Image 5" descr="/home/user/Kishore-Mohankumar/proposal/source/build/icons/pin-vio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779776"/>
            <a:ext cx="310896" cy="31089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852160" y="25603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GPS &amp; field-force platforms</a:t>
            </a:r>
            <a:endParaRPr lang="en-US" sz="1250" dirty="0"/>
          </a:p>
        </p:txBody>
      </p:sp>
      <p:sp>
        <p:nvSpPr>
          <p:cNvPr id="23" name="panel"/>
          <p:cNvSpPr/>
          <p:nvPr/>
        </p:nvSpPr>
        <p:spPr>
          <a:xfrm>
            <a:off x="548640" y="34747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24" name="Image 6" descr="/home/user/Kishore-Mohankumar/proposal/source/build/icons/globe-viol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694176"/>
            <a:ext cx="310896" cy="310896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88720" y="34747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Geofencing</a:t>
            </a:r>
            <a:endParaRPr lang="en-US" sz="1250" dirty="0"/>
          </a:p>
        </p:txBody>
      </p:sp>
      <p:sp>
        <p:nvSpPr>
          <p:cNvPr id="26" name="panel"/>
          <p:cNvSpPr/>
          <p:nvPr/>
        </p:nvSpPr>
        <p:spPr>
          <a:xfrm>
            <a:off x="2880360" y="34747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27" name="Image 7" descr="/home/user/Kishore-Mohankumar/proposal/source/build/icons/sos-viol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240" y="3694176"/>
            <a:ext cx="310896" cy="310896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3520440" y="34747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Emergency SOS</a:t>
            </a:r>
            <a:endParaRPr lang="en-US" sz="1250" dirty="0"/>
          </a:p>
        </p:txBody>
      </p:sp>
      <p:sp>
        <p:nvSpPr>
          <p:cNvPr id="29" name="panel"/>
          <p:cNvSpPr/>
          <p:nvPr/>
        </p:nvSpPr>
        <p:spPr>
          <a:xfrm>
            <a:off x="5212080" y="34747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30" name="Image 8" descr="/home/user/Kishore-Mohankumar/proposal/source/build/icons/api-viol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0" y="3694176"/>
            <a:ext cx="310896" cy="310896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5852160" y="34747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REST API integration</a:t>
            </a:r>
            <a:endParaRPr lang="en-US" sz="1250" dirty="0"/>
          </a:p>
        </p:txBody>
      </p:sp>
      <p:sp>
        <p:nvSpPr>
          <p:cNvPr id="32" name="panel"/>
          <p:cNvSpPr/>
          <p:nvPr/>
        </p:nvSpPr>
        <p:spPr>
          <a:xfrm>
            <a:off x="548640" y="43891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33" name="Image 9" descr="/home/user/Kishore-Mohankumar/proposal/source/build/icons/lock-viol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608576"/>
            <a:ext cx="310896" cy="310896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188720" y="4389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Single Sign-On (SSO)</a:t>
            </a:r>
            <a:endParaRPr lang="en-US" sz="1250" dirty="0"/>
          </a:p>
        </p:txBody>
      </p:sp>
      <p:sp>
        <p:nvSpPr>
          <p:cNvPr id="35" name="panel"/>
          <p:cNvSpPr/>
          <p:nvPr/>
        </p:nvSpPr>
        <p:spPr>
          <a:xfrm>
            <a:off x="2880360" y="43891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36" name="Image 10" descr="/home/user/Kishore-Mohankumar/proposal/source/build/icons/db-viole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3240" y="4608576"/>
            <a:ext cx="310896" cy="310896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3520440" y="4389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Existing HRMS integration</a:t>
            </a:r>
            <a:endParaRPr lang="en-US" sz="1250" dirty="0"/>
          </a:p>
        </p:txBody>
      </p:sp>
      <p:sp>
        <p:nvSpPr>
          <p:cNvPr id="38" name="panel"/>
          <p:cNvSpPr/>
          <p:nvPr/>
        </p:nvSpPr>
        <p:spPr>
          <a:xfrm>
            <a:off x="5212080" y="4389120"/>
            <a:ext cx="2194560" cy="749808"/>
          </a:xfrm>
          <a:prstGeom prst="roundRect">
            <a:avLst>
              <a:gd name="adj" fmla="val 1951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pic>
        <p:nvPicPr>
          <p:cNvPr id="39" name="Image 11" descr="/home/user/Kishore-Mohankumar/proposal/source/build/icons/cap-viol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0" y="4608576"/>
            <a:ext cx="310896" cy="310896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5852160" y="4389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University ERP integration</a:t>
            </a:r>
            <a:endParaRPr lang="en-US" sz="1250" dirty="0"/>
          </a:p>
        </p:txBody>
      </p:sp>
      <p:pic>
        <p:nvPicPr>
          <p:cNvPr id="41" name="NFC integration illustration" descr="/home/user/Kishore-Mohankumar/proposal/source/build/embed/nfc-integratio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0960" y="1607020"/>
            <a:ext cx="3977640" cy="2318080"/>
          </a:xfrm>
          <a:prstGeom prst="rect">
            <a:avLst/>
          </a:prstGeom>
        </p:spPr>
      </p:pic>
      <p:pic>
        <p:nvPicPr>
          <p:cNvPr id="42" name="GPS field integration illustration" descr="/home/user/Kishore-Mohankumar/proposal/source/build/embed/gps-field-integratio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0960" y="3984460"/>
            <a:ext cx="3977640" cy="2318080"/>
          </a:xfrm>
          <a:prstGeom prst="rect">
            <a:avLst/>
          </a:prstGeom>
        </p:spPr>
      </p:pic>
      <p:sp>
        <p:nvSpPr>
          <p:cNvPr id="43" name="panel"/>
          <p:cNvSpPr/>
          <p:nvPr/>
        </p:nvSpPr>
        <p:spPr>
          <a:xfrm>
            <a:off x="548640" y="5349240"/>
            <a:ext cx="6903720" cy="749808"/>
          </a:xfrm>
          <a:prstGeom prst="roundRect">
            <a:avLst>
              <a:gd name="adj" fmla="val 19512"/>
            </a:avLst>
          </a:prstGeom>
          <a:solidFill>
            <a:schemeClr val="bg2"/>
          </a:solidFill>
          <a:ln/>
        </p:spPr>
      </p:sp>
      <p:sp>
        <p:nvSpPr>
          <p:cNvPr id="44" name="Text 27"/>
          <p:cNvSpPr txBox="1"/>
          <p:nvPr/>
        </p:nvSpPr>
        <p:spPr>
          <a:xfrm>
            <a:off x="777240" y="534924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NFC readers, access-control hardware, GPS services, mobile apps, third-party APIs and their subscriptions may be separately required. A standard QR code does not provide NFC, biometric attendance, physical access or continuous GPS tracking.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SECURITY, PRIVACY &amp; GOVERNANCE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Identity data is sensitive — governance is built in, not bolted on</a:t>
            </a:r>
            <a:endParaRPr lang="en-US" sz="3000" dirty="0"/>
          </a:p>
        </p:txBody>
      </p:sp>
      <p:sp>
        <p:nvSpPr>
          <p:cNvPr id="5" name="icon tile"/>
          <p:cNvSpPr/>
          <p:nvPr/>
        </p:nvSpPr>
        <p:spPr>
          <a:xfrm>
            <a:off x="548640" y="1645920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6" name="lock icon" descr="/home/user/Kishore-Mohankumar/proposal/source/build/icons/lock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746870"/>
            <a:ext cx="218724" cy="2187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15568" y="16093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Role-based administrative access</a:t>
            </a:r>
            <a:endParaRPr lang="en-US" sz="1300" dirty="0"/>
          </a:p>
        </p:txBody>
      </p:sp>
      <p:sp>
        <p:nvSpPr>
          <p:cNvPr id="8" name="icon tile"/>
          <p:cNvSpPr/>
          <p:nvPr/>
        </p:nvSpPr>
        <p:spPr>
          <a:xfrm>
            <a:off x="3063240" y="1645920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9" name="key icon" descr="/home/user/Kishore-Mohankumar/proposal/source/build/icons/key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190" y="1746870"/>
            <a:ext cx="218724" cy="2187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630168" y="16093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Unique credential identifiers</a:t>
            </a:r>
            <a:endParaRPr lang="en-US" sz="1300" dirty="0"/>
          </a:p>
        </p:txBody>
      </p:sp>
      <p:sp>
        <p:nvSpPr>
          <p:cNvPr id="11" name="icon tile"/>
          <p:cNvSpPr/>
          <p:nvPr/>
        </p:nvSpPr>
        <p:spPr>
          <a:xfrm>
            <a:off x="5577840" y="1645920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2" name="scan icon" descr="/home/user/Kishore-Mohankumar/proposal/source/build/icons/scan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790" y="1746870"/>
            <a:ext cx="218724" cy="21872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144768" y="16093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QR verification controls</a:t>
            </a:r>
            <a:endParaRPr lang="en-US" sz="1300" dirty="0"/>
          </a:p>
        </p:txBody>
      </p:sp>
      <p:sp>
        <p:nvSpPr>
          <p:cNvPr id="14" name="icon tile"/>
          <p:cNvSpPr/>
          <p:nvPr/>
        </p:nvSpPr>
        <p:spPr>
          <a:xfrm>
            <a:off x="548640" y="2542032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ban icon" descr="/home/user/Kishore-Mohankumar/proposal/source/build/icons/ban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2642982"/>
            <a:ext cx="218724" cy="21872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15568" y="250545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Credential revocation</a:t>
            </a:r>
            <a:endParaRPr lang="en-US" sz="1300" dirty="0"/>
          </a:p>
        </p:txBody>
      </p:sp>
      <p:sp>
        <p:nvSpPr>
          <p:cNvPr id="17" name="icon tile"/>
          <p:cNvSpPr/>
          <p:nvPr/>
        </p:nvSpPr>
        <p:spPr>
          <a:xfrm>
            <a:off x="3063240" y="2542032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8" name="clock icon" descr="/home/user/Kishore-Mohankumar/proposal/source/build/icons/clock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190" y="2642982"/>
            <a:ext cx="218724" cy="21872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630168" y="250545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Expiry management</a:t>
            </a:r>
            <a:endParaRPr lang="en-US" sz="1300" dirty="0"/>
          </a:p>
        </p:txBody>
      </p:sp>
      <p:sp>
        <p:nvSpPr>
          <p:cNvPr id="20" name="icon tile"/>
          <p:cNvSpPr/>
          <p:nvPr/>
        </p:nvSpPr>
        <p:spPr>
          <a:xfrm>
            <a:off x="5577840" y="2542032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1" name="list icon" descr="/home/user/Kishore-Mohankumar/proposal/source/build/icons/list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790" y="2642982"/>
            <a:ext cx="218724" cy="21872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144768" y="250545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Audit trails</a:t>
            </a:r>
            <a:endParaRPr lang="en-US" sz="1300" dirty="0"/>
          </a:p>
        </p:txBody>
      </p:sp>
      <p:sp>
        <p:nvSpPr>
          <p:cNvPr id="23" name="icon tile"/>
          <p:cNvSpPr/>
          <p:nvPr/>
        </p:nvSpPr>
        <p:spPr>
          <a:xfrm>
            <a:off x="548640" y="3438144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4" name="eye icon" descr="/home/user/Kishore-Mohankumar/proposal/source/build/icons/eye-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90" y="3539094"/>
            <a:ext cx="218724" cy="21872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15568" y="3401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 minimisation</a:t>
            </a:r>
            <a:endParaRPr lang="en-US" sz="1300" dirty="0"/>
          </a:p>
        </p:txBody>
      </p:sp>
      <p:sp>
        <p:nvSpPr>
          <p:cNvPr id="26" name="icon tile"/>
          <p:cNvSpPr/>
          <p:nvPr/>
        </p:nvSpPr>
        <p:spPr>
          <a:xfrm>
            <a:off x="3063240" y="3438144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7" name="building icon" descr="/home/user/Kishore-Mohankumar/proposal/source/build/icons/building-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4190" y="3539094"/>
            <a:ext cx="218724" cy="218724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3630168" y="3401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Organisation-controlled visibility</a:t>
            </a:r>
            <a:endParaRPr lang="en-US" sz="1300" dirty="0"/>
          </a:p>
        </p:txBody>
      </p:sp>
      <p:sp>
        <p:nvSpPr>
          <p:cNvPr id="29" name="icon tile"/>
          <p:cNvSpPr/>
          <p:nvPr/>
        </p:nvSpPr>
        <p:spPr>
          <a:xfrm>
            <a:off x="5577840" y="3438144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0" name="check icon" descr="/home/user/Kishore-Mohankumar/proposal/source/build/icons/check-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8790" y="3539094"/>
            <a:ext cx="218724" cy="218724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6144768" y="3401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Consent &amp; transparency</a:t>
            </a:r>
            <a:endParaRPr lang="en-US" sz="1300" dirty="0"/>
          </a:p>
        </p:txBody>
      </p:sp>
      <p:sp>
        <p:nvSpPr>
          <p:cNvPr id="32" name="icon tile"/>
          <p:cNvSpPr/>
          <p:nvPr/>
        </p:nvSpPr>
        <p:spPr>
          <a:xfrm>
            <a:off x="548640" y="4334256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3" name="file icon" descr="/home/user/Kishore-Mohankumar/proposal/source/build/icons/file-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590" y="4435206"/>
            <a:ext cx="218724" cy="218724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115568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Retention &amp; deletion policies</a:t>
            </a:r>
            <a:endParaRPr lang="en-US" sz="1300" dirty="0"/>
          </a:p>
        </p:txBody>
      </p:sp>
      <p:sp>
        <p:nvSpPr>
          <p:cNvPr id="35" name="icon tile"/>
          <p:cNvSpPr/>
          <p:nvPr/>
        </p:nvSpPr>
        <p:spPr>
          <a:xfrm>
            <a:off x="3063240" y="4334256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6" name="globe icon" descr="/home/user/Kishore-Mohankumar/proposal/source/build/icons/globe-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4190" y="4435206"/>
            <a:ext cx="218724" cy="218724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3630168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Secure transmission (HTTPS/TLS)</a:t>
            </a:r>
            <a:endParaRPr lang="en-US" sz="1300" dirty="0"/>
          </a:p>
        </p:txBody>
      </p:sp>
      <p:sp>
        <p:nvSpPr>
          <p:cNvPr id="38" name="icon tile"/>
          <p:cNvSpPr/>
          <p:nvPr/>
        </p:nvSpPr>
        <p:spPr>
          <a:xfrm>
            <a:off x="5577840" y="4334256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9" name="refresh icon" descr="/home/user/Kishore-Mohankumar/proposal/source/build/icons/refresh-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8790" y="4435206"/>
            <a:ext cx="218724" cy="218724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6144768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Backup &amp; recovery</a:t>
            </a:r>
            <a:endParaRPr lang="en-US" sz="1300" dirty="0"/>
          </a:p>
        </p:txBody>
      </p:sp>
      <p:sp>
        <p:nvSpPr>
          <p:cNvPr id="41" name="panel"/>
          <p:cNvSpPr/>
          <p:nvPr/>
        </p:nvSpPr>
        <p:spPr>
          <a:xfrm>
            <a:off x="8275320" y="1554480"/>
            <a:ext cx="3383280" cy="45262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2" name="icon tile"/>
          <p:cNvSpPr/>
          <p:nvPr/>
        </p:nvSpPr>
        <p:spPr>
          <a:xfrm>
            <a:off x="8503920" y="178308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43" name="pin icon" descr="/home/user/Kishore-Mohankumar/proposal/source/build/icons/pin-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9259" y="1888419"/>
            <a:ext cx="228234" cy="228234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909828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Location features</a:t>
            </a:r>
            <a:endParaRPr lang="en-US" sz="1500" dirty="0"/>
          </a:p>
        </p:txBody>
      </p:sp>
      <p:sp>
        <p:nvSpPr>
          <p:cNvPr id="45" name="Text 29"/>
          <p:cNvSpPr txBox="1"/>
          <p:nvPr/>
        </p:nvSpPr>
        <p:spPr>
          <a:xfrm>
            <a:off x="8503920" y="24231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Explicit permission from the employee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Duty-based controls — never off-duty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Limited, defined retention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Transparent, visible sharing indicator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Configured to the organisation’s policy</a:t>
            </a:r>
            <a:endParaRPr lang="en-US" sz="1250" dirty="0"/>
          </a:p>
        </p:txBody>
      </p:sp>
      <p:sp>
        <p:nvSpPr>
          <p:cNvPr id="46" name="Text 30"/>
          <p:cNvSpPr txBox="1"/>
          <p:nvPr/>
        </p:nvSpPr>
        <p:spPr>
          <a:xfrm>
            <a:off x="8503920" y="4892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Each deployment is configured to applicable data-protection laws and the customer’s policies. No certification is claimed here.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DEPLOYMENT WORKFLOW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structured ten-stage path from discovery to steady state</a:t>
            </a:r>
            <a:endParaRPr lang="en-US" sz="3000" dirty="0"/>
          </a:p>
        </p:txBody>
      </p:sp>
      <p:pic>
        <p:nvPicPr>
          <p:cNvPr id="5" name="Ten-stage onboarding workflow" descr="/home/user/Kishore-Mohankumar/proposal/source/build/embed/onboarding-workflow-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0890"/>
            <a:ext cx="11064240" cy="33991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ENTERPRISE SCALABILITY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a single department to thousands of employees</a:t>
            </a:r>
            <a:endParaRPr lang="en-US" sz="3000" dirty="0"/>
          </a:p>
        </p:txBody>
      </p:sp>
      <p:graphicFrame>
        <p:nvGraphicFramePr>
          <p:cNvPr id="22" name="Rollout pla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600200"/>
                <a:gridCol w="1874520"/>
                <a:gridCol w="1691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Deployment size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Typical pilot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Rollout approach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Indicative timeline*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100 employees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Full group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Single-phase launch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– 3 weeks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500 employees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department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Two phases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 – 5 weeks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2,000 employees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branch or faculty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Phased by branch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 – 8 weeks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5,000 employees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1–2 branches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Phased by region / unit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 – 12 weeks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114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*Indicative only. Depends on data readiness, approvals, integration requirements and deployment scope.</a:t>
            </a:r>
            <a:endParaRPr lang="en-US" sz="1150" dirty="0"/>
          </a:p>
        </p:txBody>
      </p:sp>
      <p:sp>
        <p:nvSpPr>
          <p:cNvPr id="7" name="panel"/>
          <p:cNvSpPr/>
          <p:nvPr/>
        </p:nvSpPr>
        <p:spPr>
          <a:xfrm>
            <a:off x="7863840" y="1600200"/>
            <a:ext cx="3794760" cy="4480560"/>
          </a:xfrm>
          <a:prstGeom prst="roundRect">
            <a:avLst>
              <a:gd name="adj" fmla="val 3855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13816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Designed to scale</a:t>
            </a:r>
            <a:endParaRPr lang="en-US" sz="1800" dirty="0"/>
          </a:p>
        </p:txBody>
      </p:sp>
      <p:sp>
        <p:nvSpPr>
          <p:cNvPr id="9" name="icon tile"/>
          <p:cNvSpPr/>
          <p:nvPr/>
        </p:nvSpPr>
        <p:spPr>
          <a:xfrm>
            <a:off x="8138160" y="23774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0" name="building icon" descr="/home/user/Kishore-Mohankumar/proposal/source/build/icons/buildin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499" y="2482779"/>
            <a:ext cx="228234" cy="22823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41664" y="2359152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Multi-organisation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741664" y="265176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Many organisations, each with segregated data and branding</a:t>
            </a:r>
            <a:endParaRPr lang="en-US" sz="1250" dirty="0"/>
          </a:p>
        </p:txBody>
      </p:sp>
      <p:sp>
        <p:nvSpPr>
          <p:cNvPr id="13" name="icon tile"/>
          <p:cNvSpPr/>
          <p:nvPr/>
        </p:nvSpPr>
        <p:spPr>
          <a:xfrm>
            <a:off x="8138160" y="32918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4" name="users icon" descr="/home/user/Kishore-Mohankumar/proposal/source/build/icons/users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499" y="3397179"/>
            <a:ext cx="228234" cy="22823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41664" y="3273552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Multi-branch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741664" y="356616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Branch-level administrators and reporting</a:t>
            </a:r>
            <a:endParaRPr lang="en-US" sz="1250" dirty="0"/>
          </a:p>
        </p:txBody>
      </p:sp>
      <p:sp>
        <p:nvSpPr>
          <p:cNvPr id="17" name="icon tile"/>
          <p:cNvSpPr/>
          <p:nvPr/>
        </p:nvSpPr>
        <p:spPr>
          <a:xfrm>
            <a:off x="8138160" y="42062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8" name="upload icon" descr="/home/user/Kishore-Mohankumar/proposal/source/build/icons/upload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499" y="4311579"/>
            <a:ext cx="228234" cy="22823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741664" y="4187952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Batch operations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741664" y="448056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Import, renew and suspend thousands of records</a:t>
            </a:r>
            <a:endParaRPr lang="en-US" sz="1250" dirty="0"/>
          </a:p>
        </p:txBody>
      </p:sp>
      <p:sp>
        <p:nvSpPr>
          <p:cNvPr id="21" name="icon tile"/>
          <p:cNvSpPr/>
          <p:nvPr/>
        </p:nvSpPr>
        <p:spPr>
          <a:xfrm>
            <a:off x="8138160" y="512064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2" name="shield icon" descr="/home/user/Kishore-Mohankumar/proposal/source/build/icons/shield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499" y="5225979"/>
            <a:ext cx="228234" cy="22823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741664" y="5102352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Role-based delegation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8741664" y="539496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HQ, branch and department admin roles</a:t>
            </a:r>
            <a:endParaRPr lang="en-US" sz="125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4754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organisation configures its own branding, templates, structure, permissions and administrative controls.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COMMERCIAL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transparent, modular pricing framework</a:t>
            </a:r>
            <a:endParaRPr lang="en-US" sz="3000" dirty="0"/>
          </a:p>
        </p:txBody>
      </p:sp>
      <p:graphicFrame>
        <p:nvGraphicFramePr>
          <p:cNvPr id="23" name="Pricing framewo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0408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Basis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Price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Initial setup &amp; onboarding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One-time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₹[To be quoted]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Branding &amp; configuration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One-time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₹[To be quoted]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Per-employee annual subscription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 employee / year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₹[To be quoted]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Enterprise annual subscription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 organisation / year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₹[To be quoted]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API &amp; integration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 integration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Separately quoted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NFC / GPS hardware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 device / card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Separately quoted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Custom development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 scope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Based on scope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0010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Revenue models</a:t>
            </a:r>
            <a:endParaRPr lang="en-US" sz="1800" dirty="0"/>
          </a:p>
        </p:txBody>
      </p:sp>
      <p:sp>
        <p:nvSpPr>
          <p:cNvPr id="7" name="icon tile"/>
          <p:cNvSpPr/>
          <p:nvPr/>
        </p:nvSpPr>
        <p:spPr>
          <a:xfrm>
            <a:off x="8001000" y="2103120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8" name="cal icon" descr="/home/user/Kishore-Mohankumar/proposal/source/build/icons/cal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7561" y="2199681"/>
            <a:ext cx="209215" cy="20921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49640" y="21031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Annual subscription</a:t>
            </a:r>
            <a:endParaRPr lang="en-US" sz="1400" dirty="0"/>
          </a:p>
        </p:txBody>
      </p:sp>
      <p:sp>
        <p:nvSpPr>
          <p:cNvPr id="10" name="icon tile"/>
          <p:cNvSpPr/>
          <p:nvPr/>
        </p:nvSpPr>
        <p:spPr>
          <a:xfrm>
            <a:off x="8001000" y="2706624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users icon" descr="/home/user/Kishore-Mohankumar/proposal/source/build/icons/users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561" y="2803185"/>
            <a:ext cx="209215" cy="20921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549640" y="270662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Per-employee licensing</a:t>
            </a:r>
            <a:endParaRPr lang="en-US" sz="1400" dirty="0"/>
          </a:p>
        </p:txBody>
      </p:sp>
      <p:sp>
        <p:nvSpPr>
          <p:cNvPr id="13" name="icon tile"/>
          <p:cNvSpPr/>
          <p:nvPr/>
        </p:nvSpPr>
        <p:spPr>
          <a:xfrm>
            <a:off x="8001000" y="3310128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4" name="building icon" descr="/home/user/Kishore-Mohankumar/proposal/source/build/icons/building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561" y="3406689"/>
            <a:ext cx="209215" cy="20921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549640" y="33101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Enterprise licensing</a:t>
            </a:r>
            <a:endParaRPr lang="en-US" sz="1400" dirty="0"/>
          </a:p>
        </p:txBody>
      </p:sp>
      <p:sp>
        <p:nvSpPr>
          <p:cNvPr id="16" name="icon tile"/>
          <p:cNvSpPr/>
          <p:nvPr/>
        </p:nvSpPr>
        <p:spPr>
          <a:xfrm>
            <a:off x="8001000" y="3913632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7" name="upload icon" descr="/home/user/Kishore-Mohankumar/proposal/source/build/icons/upload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561" y="4010193"/>
            <a:ext cx="209215" cy="20921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549640" y="39136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Initial onboarding</a:t>
            </a:r>
            <a:endParaRPr lang="en-US" sz="1400" dirty="0"/>
          </a:p>
        </p:txBody>
      </p:sp>
      <p:sp>
        <p:nvSpPr>
          <p:cNvPr id="19" name="icon tile"/>
          <p:cNvSpPr/>
          <p:nvPr/>
        </p:nvSpPr>
        <p:spPr>
          <a:xfrm>
            <a:off x="8001000" y="4517136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0" name="api icon" descr="/home/user/Kishore-Mohankumar/proposal/source/build/icons/api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561" y="4613697"/>
            <a:ext cx="209215" cy="20921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549640" y="4517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Integration services</a:t>
            </a:r>
            <a:endParaRPr lang="en-US" sz="1400" dirty="0"/>
          </a:p>
        </p:txBody>
      </p:sp>
      <p:sp>
        <p:nvSpPr>
          <p:cNvPr id="22" name="icon tile"/>
          <p:cNvSpPr/>
          <p:nvPr/>
        </p:nvSpPr>
        <p:spPr>
          <a:xfrm>
            <a:off x="8001000" y="5120640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3" name="plus icon" descr="/home/user/Kishore-Mohankumar/proposal/source/build/icons/plus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561" y="5217201"/>
            <a:ext cx="209215" cy="20921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8549640" y="51206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 premium modules</a:t>
            </a:r>
            <a:endParaRPr lang="en-US" sz="1400" dirty="0"/>
          </a:p>
        </p:txBody>
      </p:sp>
      <p:sp>
        <p:nvSpPr>
          <p:cNvPr id="25" name="Text 15"/>
          <p:cNvSpPr txBox="1"/>
          <p:nvPr/>
        </p:nvSpPr>
        <p:spPr>
          <a:xfrm>
            <a:off x="548640" y="54406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All figures are placeholders and will be quoted after discovery. Nothing here is an approved quotation.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BUSINESS VALUE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organisations gain</a:t>
            </a:r>
            <a:endParaRPr lang="en-US" sz="3000" dirty="0"/>
          </a:p>
        </p:txBody>
      </p:sp>
      <p:sp>
        <p:nvSpPr>
          <p:cNvPr id="5" name="panel"/>
          <p:cNvSpPr/>
          <p:nvPr/>
        </p:nvSpPr>
        <p:spPr>
          <a:xfrm>
            <a:off x="548640" y="169164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icon tile"/>
          <p:cNvSpPr/>
          <p:nvPr/>
        </p:nvSpPr>
        <p:spPr>
          <a:xfrm>
            <a:off x="777240" y="192024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7" name="idcard icon" descr="/home/user/Kishore-Mohankumar/proposal/source/build/icons/idcard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2034357"/>
            <a:ext cx="247254" cy="2472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Less physical card replacement</a:t>
            </a:r>
            <a:endParaRPr lang="en-US" sz="1400" dirty="0"/>
          </a:p>
        </p:txBody>
      </p:sp>
      <p:sp>
        <p:nvSpPr>
          <p:cNvPr id="9" name="panel"/>
          <p:cNvSpPr/>
          <p:nvPr/>
        </p:nvSpPr>
        <p:spPr>
          <a:xfrm>
            <a:off x="2788920" y="169164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icon tile"/>
          <p:cNvSpPr/>
          <p:nvPr/>
        </p:nvSpPr>
        <p:spPr>
          <a:xfrm>
            <a:off x="3017520" y="192024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1" name="upload icon" descr="/home/user/Kishore-Mohankumar/proposal/source/build/icons/upload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637" y="2034357"/>
            <a:ext cx="247254" cy="24725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01752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Faster credential issuance</a:t>
            </a:r>
            <a:endParaRPr lang="en-US" sz="1400" dirty="0"/>
          </a:p>
        </p:txBody>
      </p:sp>
      <p:sp>
        <p:nvSpPr>
          <p:cNvPr id="13" name="panel"/>
          <p:cNvSpPr/>
          <p:nvPr/>
        </p:nvSpPr>
        <p:spPr>
          <a:xfrm>
            <a:off x="5029200" y="169164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4" name="icon tile"/>
          <p:cNvSpPr/>
          <p:nvPr/>
        </p:nvSpPr>
        <p:spPr>
          <a:xfrm>
            <a:off x="5257800" y="192024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5" name="grid icon" descr="/home/user/Kishore-Mohankumar/proposal/source/build/icons/grid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917" y="2034357"/>
            <a:ext cx="247254" cy="24725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780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Centralised identity management</a:t>
            </a:r>
            <a:endParaRPr lang="en-US" sz="1400" dirty="0"/>
          </a:p>
        </p:txBody>
      </p:sp>
      <p:sp>
        <p:nvSpPr>
          <p:cNvPr id="17" name="panel"/>
          <p:cNvSpPr/>
          <p:nvPr/>
        </p:nvSpPr>
        <p:spPr>
          <a:xfrm>
            <a:off x="7269480" y="169164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8" name="icon tile"/>
          <p:cNvSpPr/>
          <p:nvPr/>
        </p:nvSpPr>
        <p:spPr>
          <a:xfrm>
            <a:off x="7498080" y="192024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19" name="scan icon" descr="/home/user/Kishore-Mohankumar/proposal/source/build/icons/scan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197" y="2034357"/>
            <a:ext cx="247254" cy="24725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49808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Faster identity verification</a:t>
            </a:r>
            <a:endParaRPr lang="en-US" sz="1400" dirty="0"/>
          </a:p>
        </p:txBody>
      </p:sp>
      <p:sp>
        <p:nvSpPr>
          <p:cNvPr id="21" name="panel"/>
          <p:cNvSpPr/>
          <p:nvPr/>
        </p:nvSpPr>
        <p:spPr>
          <a:xfrm>
            <a:off x="9509760" y="169164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2" name="icon tile"/>
          <p:cNvSpPr/>
          <p:nvPr/>
        </p:nvSpPr>
        <p:spPr>
          <a:xfrm>
            <a:off x="9738360" y="192024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3" name="refresh icon" descr="/home/user/Kishore-Mohankumar/proposal/source/build/icons/refresh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2477" y="2034357"/>
            <a:ext cx="247254" cy="24725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73836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Better lifecycle management</a:t>
            </a:r>
            <a:endParaRPr lang="en-US" sz="1400" dirty="0"/>
          </a:p>
        </p:txBody>
      </p:sp>
      <p:sp>
        <p:nvSpPr>
          <p:cNvPr id="25" name="panel"/>
          <p:cNvSpPr/>
          <p:nvPr/>
        </p:nvSpPr>
        <p:spPr>
          <a:xfrm>
            <a:off x="548640" y="356616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6" name="icon tile"/>
          <p:cNvSpPr/>
          <p:nvPr/>
        </p:nvSpPr>
        <p:spPr>
          <a:xfrm>
            <a:off x="777240" y="379476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27" name="users icon" descr="/home/user/Kishore-Mohankumar/proposal/source/build/icons/users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57" y="3908877"/>
            <a:ext cx="247254" cy="24725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77240" y="4389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Easier onboarding &amp; offboarding</a:t>
            </a:r>
            <a:endParaRPr lang="en-US" sz="1400" dirty="0"/>
          </a:p>
        </p:txBody>
      </p:sp>
      <p:sp>
        <p:nvSpPr>
          <p:cNvPr id="29" name="panel"/>
          <p:cNvSpPr/>
          <p:nvPr/>
        </p:nvSpPr>
        <p:spPr>
          <a:xfrm>
            <a:off x="2788920" y="356616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0" name="icon tile"/>
          <p:cNvSpPr/>
          <p:nvPr/>
        </p:nvSpPr>
        <p:spPr>
          <a:xfrm>
            <a:off x="3017520" y="379476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1" name="chart icon" descr="/home/user/Kishore-Mohankumar/proposal/source/build/icons/chart-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637" y="3908877"/>
            <a:ext cx="247254" cy="24725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3017520" y="4389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Improved administrative visibility</a:t>
            </a:r>
            <a:endParaRPr lang="en-US" sz="1400" dirty="0"/>
          </a:p>
        </p:txBody>
      </p:sp>
      <p:sp>
        <p:nvSpPr>
          <p:cNvPr id="33" name="panel"/>
          <p:cNvSpPr/>
          <p:nvPr/>
        </p:nvSpPr>
        <p:spPr>
          <a:xfrm>
            <a:off x="5029200" y="356616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4" name="icon tile"/>
          <p:cNvSpPr/>
          <p:nvPr/>
        </p:nvSpPr>
        <p:spPr>
          <a:xfrm>
            <a:off x="5257800" y="379476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5" name="palette icon" descr="/home/user/Kishore-Mohankumar/proposal/source/build/icons/palette-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1917" y="3908877"/>
            <a:ext cx="247254" cy="247254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257800" y="4389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Consistent organisation branding</a:t>
            </a:r>
            <a:endParaRPr lang="en-US" sz="1400" dirty="0"/>
          </a:p>
        </p:txBody>
      </p:sp>
      <p:sp>
        <p:nvSpPr>
          <p:cNvPr id="37" name="panel"/>
          <p:cNvSpPr/>
          <p:nvPr/>
        </p:nvSpPr>
        <p:spPr>
          <a:xfrm>
            <a:off x="7269480" y="356616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8" name="icon tile"/>
          <p:cNvSpPr/>
          <p:nvPr/>
        </p:nvSpPr>
        <p:spPr>
          <a:xfrm>
            <a:off x="7498080" y="379476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39" name="phone icon" descr="/home/user/Kishore-Mohankumar/proposal/source/build/icons/phone-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2197" y="3908877"/>
            <a:ext cx="247254" cy="247254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498080" y="4389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Convenient mobile access</a:t>
            </a:r>
            <a:endParaRPr lang="en-US" sz="1400" dirty="0"/>
          </a:p>
        </p:txBody>
      </p:sp>
      <p:sp>
        <p:nvSpPr>
          <p:cNvPr id="41" name="panel"/>
          <p:cNvSpPr/>
          <p:nvPr/>
        </p:nvSpPr>
        <p:spPr>
          <a:xfrm>
            <a:off x="9509760" y="3566160"/>
            <a:ext cx="2057400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2" name="icon tile"/>
          <p:cNvSpPr/>
          <p:nvPr/>
        </p:nvSpPr>
        <p:spPr>
          <a:xfrm>
            <a:off x="9738360" y="3794760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bg2"/>
          </a:solidFill>
          <a:ln/>
        </p:spPr>
      </p:sp>
      <p:pic>
        <p:nvPicPr>
          <p:cNvPr id="43" name="list icon" descr="/home/user/Kishore-Mohankumar/proposal/source/build/icons/list-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2477" y="3908877"/>
            <a:ext cx="247254" cy="247254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9738360" y="4389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Verification auditability</a:t>
            </a:r>
            <a:endParaRPr lang="en-US" sz="1400" dirty="0"/>
          </a:p>
        </p:txBody>
      </p:sp>
      <p:sp>
        <p:nvSpPr>
          <p:cNvPr id="45" name="panel"/>
          <p:cNvSpPr/>
          <p:nvPr/>
        </p:nvSpPr>
        <p:spPr>
          <a:xfrm>
            <a:off x="548640" y="5532120"/>
            <a:ext cx="11064240" cy="566928"/>
          </a:xfrm>
          <a:prstGeom prst="roundRect">
            <a:avLst>
              <a:gd name="adj" fmla="val 25806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822960" y="55321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ROI is assessed per organisation with transparent assumptions (headcount, card replacement frequency, issuance effort). No savings are claimed in advance.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WHY INFINITIA LINKS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Built for identity, designed for trust</a:t>
            </a:r>
            <a:endParaRPr lang="en-US" sz="3000" dirty="0"/>
          </a:p>
        </p:txBody>
      </p:sp>
      <p:sp>
        <p:nvSpPr>
          <p:cNvPr id="5" name="panel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6" name="icon tile"/>
          <p:cNvSpPr/>
          <p:nvPr/>
        </p:nvSpPr>
        <p:spPr>
          <a:xfrm>
            <a:off x="822960" y="1965960"/>
            <a:ext cx="512064" cy="51206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7" name="shield icon" descr="/home/user/Kishore-Mohankumar/proposal/source/build/icons/shie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088855"/>
            <a:ext cx="266273" cy="2662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Purpose-built for verification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971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Live, server-side credential status — not just a printable card</a:t>
            </a:r>
            <a:endParaRPr lang="en-US" sz="1250" dirty="0"/>
          </a:p>
        </p:txBody>
      </p:sp>
      <p:sp>
        <p:nvSpPr>
          <p:cNvPr id="10" name="panel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1" name="icon tile"/>
          <p:cNvSpPr/>
          <p:nvPr/>
        </p:nvSpPr>
        <p:spPr>
          <a:xfrm>
            <a:off x="4572000" y="1965960"/>
            <a:ext cx="512064" cy="51206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2" name="palette icon" descr="/home/user/Kishore-Mohankumar/proposal/source/build/icons/palett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95" y="2088855"/>
            <a:ext cx="266273" cy="2662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brand first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971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White-labelled templates; Infinitia Links stays discreet</a:t>
            </a:r>
            <a:endParaRPr lang="en-US" sz="1250" dirty="0"/>
          </a:p>
        </p:txBody>
      </p:sp>
      <p:sp>
        <p:nvSpPr>
          <p:cNvPr id="15" name="panel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6" name="icon tile"/>
          <p:cNvSpPr/>
          <p:nvPr/>
        </p:nvSpPr>
        <p:spPr>
          <a:xfrm>
            <a:off x="8321040" y="1965960"/>
            <a:ext cx="512064" cy="51206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7" name="building icon" descr="/home/user/Kishore-Mohankumar/proposal/source/build/icons/building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935" y="2088855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2104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platform, every sector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2971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Education, healthcare, corporate, finance and field workforce</a:t>
            </a:r>
            <a:endParaRPr lang="en-US" sz="1250" dirty="0"/>
          </a:p>
        </p:txBody>
      </p:sp>
      <p:sp>
        <p:nvSpPr>
          <p:cNvPr id="20" name="panel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1" name="icon tile"/>
          <p:cNvSpPr/>
          <p:nvPr/>
        </p:nvSpPr>
        <p:spPr>
          <a:xfrm>
            <a:off x="822960" y="4160520"/>
            <a:ext cx="512064" cy="51206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2" name="lock icon" descr="/home/user/Kishore-Mohankumar/proposal/source/build/icons/lo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4283415"/>
            <a:ext cx="266273" cy="26627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Privacy by configuration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5166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Organisations decide every visible field</a:t>
            </a:r>
            <a:endParaRPr lang="en-US" sz="1250" dirty="0"/>
          </a:p>
        </p:txBody>
      </p:sp>
      <p:sp>
        <p:nvSpPr>
          <p:cNvPr id="25" name="panel"/>
          <p:cNvSpPr/>
          <p:nvPr/>
        </p:nvSpPr>
        <p:spPr>
          <a:xfrm>
            <a:off x="4297680" y="3886200"/>
            <a:ext cx="3520440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6" name="icon tile"/>
          <p:cNvSpPr/>
          <p:nvPr/>
        </p:nvSpPr>
        <p:spPr>
          <a:xfrm>
            <a:off x="4572000" y="4160520"/>
            <a:ext cx="512064" cy="51206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7" name="upload icon" descr="/home/user/Kishore-Mohankumar/proposal/source/build/icons/uploa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895" y="4283415"/>
            <a:ext cx="266273" cy="26627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7200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 to deploy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5166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Bulk onboarding and a structured ten-stage rollout</a:t>
            </a:r>
            <a:endParaRPr lang="en-US" sz="1250" dirty="0"/>
          </a:p>
        </p:txBody>
      </p:sp>
      <p:sp>
        <p:nvSpPr>
          <p:cNvPr id="30" name="panel"/>
          <p:cNvSpPr/>
          <p:nvPr/>
        </p:nvSpPr>
        <p:spPr>
          <a:xfrm>
            <a:off x="8046720" y="3886200"/>
            <a:ext cx="3520440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1" name="icon tile"/>
          <p:cNvSpPr/>
          <p:nvPr/>
        </p:nvSpPr>
        <p:spPr>
          <a:xfrm>
            <a:off x="8321040" y="4160520"/>
            <a:ext cx="512064" cy="51206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2" name="link icon" descr="/home/user/Kishore-Mohankumar/proposal/source/build/icons/lin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935" y="4283415"/>
            <a:ext cx="266273" cy="266273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3210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Connects, doesn’t replace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8321040" y="5166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Links to your existing HR, LMS and service systems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finitia Links logo" descr="/home/user/Kishore-Mohankumar/proposal/visual-assets/brand/infinitia-links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56204"/>
            <a:ext cx="1920240" cy="153935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514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Let’s design your organisation’s digital identity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406908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Discovery call  —  Goals, scope and data readiness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6908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69087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Pilot scope  —  One department or branch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3126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5312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5312664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Tailored proposal  —  Configuration, timeline and quotation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589520" y="1828800"/>
            <a:ext cx="4023360" cy="3291840"/>
          </a:xfrm>
          <a:prstGeom prst="roundRect">
            <a:avLst>
              <a:gd name="adj" fmla="val 5556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CONTACT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24688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u="sng" dirty="0">
                <a:solidFill>
                  <a:schemeClr val="bg1">
                    <a:alpha val="85000"/>
                  </a:schemeClr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infinitialinks.com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bg1">
                    <a:alpha val="85000"/>
                  </a:schemeClr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>
                    <a:alpha val="85000"/>
                  </a:schemeClr>
                </a:solidFill>
              </a:rPr>
              <a:t>Name: [To be added]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>
                    <a:alpha val="85000"/>
                  </a:schemeClr>
                </a:solidFill>
              </a:rPr>
              <a:t>Email: [To be added]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>
                    <a:alpha val="85000"/>
                  </a:schemeClr>
                </a:solidFill>
              </a:rPr>
              <a:t>Phone: [To be added]</a:t>
            </a:r>
            <a:endParaRPr lang="en-US" sz="1400" dirty="0"/>
          </a:p>
        </p:txBody>
      </p:sp>
      <p:pic>
        <p:nvPicPr>
          <p:cNvPr id="16" name="Infinitia Hub logo" descr="/home/user/Kishore-Mohankumar/proposal/visual-assets/brand/infinitia-hub-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343400"/>
            <a:ext cx="904646" cy="6400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96112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>
                    <a:alpha val="75000"/>
                  </a:schemeClr>
                </a:solidFill>
              </a:rPr>
              <a:t>An enterprise digital identity solution by Infinitia Hub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589520" y="5669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One link. Infinite possibilities.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263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>
                    <a:alpha val="55000"/>
                  </a:schemeClr>
                </a:solidFill>
              </a:rPr>
              <a:t>All people, organisations, QR codes and figures shown are fictional demonstrations.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initia Links">
  <a:themeElements>
    <a:clrScheme name="Infinitia Links">
      <a:dk1>
        <a:srgbClr val="0B1433"/>
      </a:dk1>
      <a:lt1>
        <a:srgbClr val="FFFFFF"/>
      </a:lt1>
      <a:dk2>
        <a:srgbClr val="5B6683"/>
      </a:dk2>
      <a:lt2>
        <a:srgbClr val="F3F6FC"/>
      </a:lt2>
      <a:accent1>
        <a:srgbClr val="1463FF"/>
      </a:accent1>
      <a:accent2>
        <a:srgbClr val="00B4F5"/>
      </a:accent2>
      <a:accent3>
        <a:srgbClr val="7B2CF5"/>
      </a:accent3>
      <a:accent4>
        <a:srgbClr val="12B76A"/>
      </a:accent4>
      <a:accent5>
        <a:srgbClr val="F59E0B"/>
      </a:accent5>
      <a:accent6>
        <a:srgbClr val="E5484D"/>
      </a:accent6>
      <a:hlink>
        <a:srgbClr val="1463FF"/>
      </a:hlink>
      <a:folHlink>
        <a:srgbClr val="7B2CF5"/>
      </a:folHlink>
    </a:clrScheme>
    <a:fontScheme name="Infinitia Link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Infinitia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Infinitia Links — Enterprise Digital Identity &amp; Verification Platform</dc:title>
  <dc:subject>Enterprise proposal</dc:subject>
  <dc:creator>Infinitia Hub</dc:creator>
  <cp:lastModifiedBy>Infinitia Hub</cp:lastModifiedBy>
  <cp:revision>1</cp:revision>
  <dcterms:created xsi:type="dcterms:W3CDTF">2026-10-30T23:01:28Z</dcterms:created>
  <dcterms:modified xsi:type="dcterms:W3CDTF">2026-10-30T23:01:28Z</dcterms:modified>
</cp:coreProperties>
</file>